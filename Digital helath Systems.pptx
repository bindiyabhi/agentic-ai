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143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HEALTH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Tools &amp; the Rise of Agentic AI in Healthcare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128016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overview for researchers, educators &amp; health-tech innovators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6400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9" name="Image 0" descr="icons/heartpul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784098"/>
            <a:ext cx="352044" cy="3520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Digital Health?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of digital technology, data, and health services to </a:t>
            </a: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prevent, diagnose, monitor and manage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disease — and to make care more accessible, personalised, and continuous.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218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STRATEGY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4930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sits at the intersection of eHealth, mHealth, and emerging fields like AI, big data, genomics and the Internet of Things (IoT).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818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0932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shifts care from episodic and reactive to continuous and predictive — reaching patients beyond hospital walls.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150876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0" y="18288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070" y="2023110"/>
            <a:ext cx="388620" cy="3886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0" y="1764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29600" y="21671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screening &amp; wellness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49440" y="310896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9" name="Shape 16"/>
          <p:cNvSpPr/>
          <p:nvPr/>
        </p:nvSpPr>
        <p:spPr>
          <a:xfrm>
            <a:off x="7223760" y="34290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1" descr="icons/magnif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70" y="3623310"/>
            <a:ext cx="388620" cy="3886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0" y="3364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8229600" y="37673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detection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949440" y="470916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24" name="Shape 20"/>
          <p:cNvSpPr/>
          <p:nvPr/>
        </p:nvSpPr>
        <p:spPr>
          <a:xfrm>
            <a:off x="7223760" y="5029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2" descr="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070" y="5223510"/>
            <a:ext cx="388620" cy="3886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29600" y="4965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8229600" y="53675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&amp; follow-up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Pillars of the Digital Health Ecosystem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26310" cy="3931920"/>
          </a:xfrm>
          <a:prstGeom prst="roundRect">
            <a:avLst>
              <a:gd name="adj" fmla="val 3610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196035" y="21945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0" descr="icons/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915" y="2377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00400"/>
            <a:ext cx="16971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Health Records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3232" y="4297680"/>
            <a:ext cx="169712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longitudinal patient data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30982" y="1828800"/>
            <a:ext cx="2026310" cy="3931920"/>
          </a:xfrm>
          <a:prstGeom prst="roundRect">
            <a:avLst>
              <a:gd name="adj" fmla="val 3610"/>
            </a:avLst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8378" y="21945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1" descr="icons/wat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258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95574" y="3200400"/>
            <a:ext cx="16971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Wearables &amp; IoT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995574" y="4297680"/>
            <a:ext cx="169712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vitals &amp; activity capture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968142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113325" y="1828800"/>
            <a:ext cx="2026310" cy="3931920"/>
          </a:xfrm>
          <a:prstGeom prst="roundRect">
            <a:avLst>
              <a:gd name="adj" fmla="val 3610"/>
            </a:avLst>
          </a:prstGeom>
          <a:solidFill>
            <a:srgbClr val="065A82"/>
          </a:solidFill>
          <a:ln/>
        </p:spPr>
      </p:sp>
      <p:sp>
        <p:nvSpPr>
          <p:cNvPr id="19" name="Shape 15"/>
          <p:cNvSpPr/>
          <p:nvPr/>
        </p:nvSpPr>
        <p:spPr>
          <a:xfrm>
            <a:off x="5760720" y="21945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0" name="Image 2" descr="icons/mob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3774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77917" y="3200400"/>
            <a:ext cx="16971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mHealth Apps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277917" y="4297680"/>
            <a:ext cx="169712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engagement on the go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250485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395667" y="1828800"/>
            <a:ext cx="2026310" cy="3931920"/>
          </a:xfrm>
          <a:prstGeom prst="roundRect">
            <a:avLst>
              <a:gd name="adj" fmla="val 3610"/>
            </a:avLst>
          </a:prstGeom>
          <a:solidFill>
            <a:srgbClr val="1C7293"/>
          </a:solidFill>
          <a:ln/>
        </p:spPr>
      </p:sp>
      <p:sp>
        <p:nvSpPr>
          <p:cNvPr id="25" name="Shape 20"/>
          <p:cNvSpPr/>
          <p:nvPr/>
        </p:nvSpPr>
        <p:spPr>
          <a:xfrm>
            <a:off x="8043062" y="21945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3" descr="icons/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942" y="23774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60259" y="3200400"/>
            <a:ext cx="16971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Interoperability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560259" y="4297680"/>
            <a:ext cx="169712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exchange at scale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532827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678010" y="1828800"/>
            <a:ext cx="2026310" cy="3931920"/>
          </a:xfrm>
          <a:prstGeom prst="roundRect">
            <a:avLst>
              <a:gd name="adj" fmla="val 3610"/>
            </a:avLst>
          </a:prstGeom>
          <a:solidFill>
            <a:srgbClr val="065A82"/>
          </a:solidFill>
          <a:ln/>
        </p:spPr>
      </p:sp>
      <p:sp>
        <p:nvSpPr>
          <p:cNvPr id="31" name="Shape 25"/>
          <p:cNvSpPr/>
          <p:nvPr/>
        </p:nvSpPr>
        <p:spPr>
          <a:xfrm>
            <a:off x="10325405" y="21945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2" name="Image 4" descr="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8285" y="23774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42602" y="3200400"/>
            <a:ext cx="169712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Analytics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9842602" y="4297680"/>
            <a:ext cx="169712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detection, prediction, decision support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9815170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pillars interconnect — data flows between records, devices, applications and analytics to create a continuous care loop.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Health in Action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icons/vide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717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8562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Telemedicine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874520" y="2286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consultations connect patients in remote Kerala villages with specialists in tertiary hospitals.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0" y="160020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wat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21717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26680" y="18562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Monitoring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726680" y="2286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Smartwatches track ECG, SpO₂ and glucose, flagging anomalies before symptoms appear.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206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/housemedic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4119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0965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Patient Monitoring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874520" y="4526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devices let clinicians track post-surgical or chronic-disease patients at home.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0" y="384048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75120" y="4206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860" y="441198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26680" y="40965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Information Exchanges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7726680" y="4526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EHRs let a patient's record follow them across hospitals and states.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Tools &amp; Technologies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8" name="Image 0" descr="icons/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1962531"/>
            <a:ext cx="326898" cy="326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51460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EHR / EMR Platforms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Epic, Cerner, OpenMRS — structured longitudinal records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3400" y="160020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182880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1" descr="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731" y="196253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51460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Health Platforms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29260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HealthLake, Azure Health Data Services, Google Cloud Healthcare API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60020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182880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8" name="Image 2" descr="icons/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491" y="196253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251460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Standards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66760" y="29260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FHIR, DICOM, ICD-11 enabling interoperability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84048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3" name="Image 3" descr="icons/char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971" y="4202811"/>
            <a:ext cx="326898" cy="32689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475488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BI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77240" y="516636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dashboards for risk scoring and utilisation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343400" y="384048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27" name="Shape 21"/>
          <p:cNvSpPr/>
          <p:nvPr/>
        </p:nvSpPr>
        <p:spPr>
          <a:xfrm>
            <a:off x="4572000" y="406908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8" name="Image 4" descr="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731" y="4202811"/>
            <a:ext cx="326898" cy="32689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72000" y="475488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572000" y="516636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HIPAA/GDPR-aligned identity, encryption &amp; audit tooling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138160" y="384048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</p:sp>
      <p:sp>
        <p:nvSpPr>
          <p:cNvPr id="32" name="Shape 25"/>
          <p:cNvSpPr/>
          <p:nvPr/>
        </p:nvSpPr>
        <p:spPr>
          <a:xfrm>
            <a:off x="8366760" y="406908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33" name="Image 5" descr="icons/xra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0491" y="4202811"/>
            <a:ext cx="326898" cy="32689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66760" y="475488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&amp; Diagnostics AI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366760" y="516636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Radiology, pathology and retinal-scan classifiers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Machine Learning Adds Value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476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multidomain indices (e.g., NHANES-based) flag high-risk patients early.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Imaging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535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classify radiographs, retinal scans and histopathology slides.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657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95935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insight from clinical notes and discharge summaries.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663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&amp; Cluster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96519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disease hotspots and resource gaps across regions.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691640"/>
            <a:ext cx="4434840" cy="4160520"/>
          </a:xfrm>
          <a:prstGeom prst="roundRect">
            <a:avLst>
              <a:gd name="adj" fmla="val 1978"/>
            </a:avLst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1965960"/>
            <a:ext cx="685800" cy="6858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4" name="Image 0" descr="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385" y="2120265"/>
            <a:ext cx="377190" cy="37719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278892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Description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Prediction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498080" y="35204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shifts digital health from recording what happened to anticipating what happens next.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98080" y="4343400"/>
            <a:ext cx="38862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0" y="4480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7498080" y="50749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 systems piloting predictive analytics by 2026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Frontier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AI “Agentic”?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chatbot that answers one question at a time, an agentic system perceives context, plans multi-step actions, uses tools, and acts autonomously toward a goal — with a human able to supervise or intervene.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531620" y="32461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0" name="Image 0" descr="icons/magnif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4061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9593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2245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records, messages, device data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9184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4274820" y="32461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1" descr="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4061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39593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42245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goal into ordered steps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03504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9" name="Shape 15"/>
          <p:cNvSpPr/>
          <p:nvPr/>
        </p:nvSpPr>
        <p:spPr>
          <a:xfrm>
            <a:off x="7018020" y="32461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0" name="Image 2" descr="icons/gea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4061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39593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42245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 — books, orders, drafts, updates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877824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24" name="Shape 19"/>
          <p:cNvSpPr/>
          <p:nvPr/>
        </p:nvSpPr>
        <p:spPr>
          <a:xfrm>
            <a:off x="9761220" y="32461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5" name="Image 3" descr="icons/sp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340614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869680" y="39593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/ Escalate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15400" y="42245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Adapts, or hands off to a clinician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903720" y="155448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29" name="Shape 23"/>
          <p:cNvSpPr/>
          <p:nvPr/>
        </p:nvSpPr>
        <p:spPr>
          <a:xfrm>
            <a:off x="7132320" y="178308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0" name="Image 4" descr="icons/robo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9659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92440" y="1719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Automation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809244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automation follows a fixed script; agentic AI reasons about novel situations.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Possibilities in Care Delivery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24328" cy="3977640"/>
          </a:xfrm>
          <a:prstGeom prst="roundRect">
            <a:avLst>
              <a:gd name="adj" fmla="val 3136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476756" y="192024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0" descr="icons/userdoc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066" y="211455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Triage Agents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74904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symptoms, prioritise urgent cases, and route patients to the right care level.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74136" y="1600200"/>
            <a:ext cx="2624328" cy="3977640"/>
          </a:xfrm>
          <a:prstGeom prst="roundRect">
            <a:avLst>
              <a:gd name="adj" fmla="val 3136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4302252" y="192024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1" descr="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562" y="211455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016" y="292608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Coordination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57016" y="374904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follow-ups, order labs, and chase results across multiple systems autonomously.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99632" y="1600200"/>
            <a:ext cx="2624328" cy="3977640"/>
          </a:xfrm>
          <a:prstGeom prst="roundRect">
            <a:avLst>
              <a:gd name="adj" fmla="val 3136"/>
            </a:avLst>
          </a:prstGeom>
          <a:solidFill>
            <a:srgbClr val="065A82"/>
          </a:solidFill>
          <a:ln/>
        </p:spPr>
      </p:sp>
      <p:sp>
        <p:nvSpPr>
          <p:cNvPr id="17" name="Shape 13"/>
          <p:cNvSpPr/>
          <p:nvPr/>
        </p:nvSpPr>
        <p:spPr>
          <a:xfrm>
            <a:off x="7127748" y="192024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icons/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058" y="211455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292608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Companions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382512" y="374904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agents that answer questions, nudge adherence, and escalate concerns.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25128" y="1600200"/>
            <a:ext cx="2624328" cy="3977640"/>
          </a:xfrm>
          <a:prstGeom prst="roundRect">
            <a:avLst>
              <a:gd name="adj" fmla="val 3136"/>
            </a:avLst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9953244" y="192024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3" name="Image 3" descr="icons/rou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7554" y="2114550"/>
            <a:ext cx="388620" cy="3886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08008" y="292608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Administrative Agents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208008" y="374904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prior-authorisations, code claims, and reconcile billing without manual entry.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case: a human clinician remains accountable for final decisions — the agent prepares, the professional approves.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Responsible Adoption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84248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0" descr="icons/usersecr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899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801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2880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health data demands strict consent and access control.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160020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1984248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1" descr="icons/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218998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1801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Bias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68096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narrow populations can under-serve others.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813048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icons/triang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01878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630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&amp; Liability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28800" y="4023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is still evolving on who is accountable for an agent's action.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0" y="342900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3A5A6A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3813048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3" name="Image 3" descr="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140" y="401878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80960" y="3630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680960" y="4023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devices and agents widen the attack surface.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53492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3492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transparency, human oversight, and continuous validation must scale alongside AI capability.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Connected Care to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Care Support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6380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Interoperable-by-default systems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41528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co-pilots for clinicians &amp; researchers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19252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69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personalised population health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4969764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846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frameworks built into every layer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5806440"/>
            <a:ext cx="1078992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Bindiya M. Varghese  •  Rajagiri College of Social Sciences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Microsoft Office PowerPoint</Application>
  <PresentationFormat>Widescreen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Bindiya Abhilash</cp:lastModifiedBy>
  <cp:revision>1</cp:revision>
  <dcterms:created xsi:type="dcterms:W3CDTF">2026-07-13T06:44:54Z</dcterms:created>
  <dcterms:modified xsi:type="dcterms:W3CDTF">2026-07-13T06:49:07Z</dcterms:modified>
</cp:coreProperties>
</file>