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257" r:id="rId4"/>
    <p:sldId id="264" r:id="rId5"/>
    <p:sldId id="265" r:id="rId6"/>
    <p:sldId id="277" r:id="rId7"/>
    <p:sldId id="271" r:id="rId8"/>
    <p:sldId id="266" r:id="rId9"/>
    <p:sldId id="267" r:id="rId10"/>
    <p:sldId id="268" r:id="rId11"/>
    <p:sldId id="269" r:id="rId12"/>
    <p:sldId id="270" r:id="rId13"/>
    <p:sldId id="258" r:id="rId14"/>
    <p:sldId id="272" r:id="rId15"/>
    <p:sldId id="278" r:id="rId16"/>
    <p:sldId id="273" r:id="rId17"/>
    <p:sldId id="274" r:id="rId18"/>
    <p:sldId id="279" r:id="rId19"/>
    <p:sldId id="259" r:id="rId20"/>
    <p:sldId id="275" r:id="rId21"/>
    <p:sldId id="280" r:id="rId22"/>
    <p:sldId id="260" r:id="rId23"/>
    <p:sldId id="261" r:id="rId24"/>
    <p:sldId id="262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6DDAE4-B77A-4179-AD37-8E6C26255B82}" type="doc">
      <dgm:prSet loTypeId="urn:microsoft.com/office/officeart/2005/8/layout/process4" loCatId="process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28A37C1-D9B7-4308-A240-3D6A2F16B2AF}">
      <dgm:prSet phldrT="[Text]"/>
      <dgm:spPr/>
      <dgm:t>
        <a:bodyPr/>
        <a:lstStyle/>
        <a:p>
          <a:r>
            <a:rPr lang="en-IN" b="1" dirty="0"/>
            <a:t>Hospital ERP / HIS Data Update</a:t>
          </a:r>
          <a:endParaRPr lang="en-IN" dirty="0"/>
        </a:p>
      </dgm:t>
    </dgm:pt>
    <dgm:pt modelId="{6801D2B6-0713-462D-A0DF-AE2A76CBACFD}" type="parTrans" cxnId="{2B6AA8E7-2F3C-441A-9825-58898E217518}">
      <dgm:prSet/>
      <dgm:spPr/>
      <dgm:t>
        <a:bodyPr/>
        <a:lstStyle/>
        <a:p>
          <a:endParaRPr lang="en-IN"/>
        </a:p>
      </dgm:t>
    </dgm:pt>
    <dgm:pt modelId="{E00F234A-E4D7-49B6-82E1-2F08D00E6099}" type="sibTrans" cxnId="{2B6AA8E7-2F3C-441A-9825-58898E217518}">
      <dgm:prSet/>
      <dgm:spPr/>
      <dgm:t>
        <a:bodyPr/>
        <a:lstStyle/>
        <a:p>
          <a:endParaRPr lang="en-IN"/>
        </a:p>
      </dgm:t>
    </dgm:pt>
    <dgm:pt modelId="{C1CE6BA9-61B5-45AA-A857-88154F80E2E0}">
      <dgm:prSet phldrT="[Text]"/>
      <dgm:spPr/>
      <dgm:t>
        <a:bodyPr/>
        <a:lstStyle/>
        <a:p>
          <a:r>
            <a:rPr lang="en-IN" b="1" dirty="0"/>
            <a:t>n8n Webhook or Database Trigger</a:t>
          </a:r>
          <a:endParaRPr lang="en-IN" dirty="0"/>
        </a:p>
      </dgm:t>
    </dgm:pt>
    <dgm:pt modelId="{7868B5ED-5D34-4A29-82AA-2AD5B1E559CA}" type="parTrans" cxnId="{746FC451-245D-4232-A62B-324116F95F0C}">
      <dgm:prSet/>
      <dgm:spPr/>
      <dgm:t>
        <a:bodyPr/>
        <a:lstStyle/>
        <a:p>
          <a:endParaRPr lang="en-IN"/>
        </a:p>
      </dgm:t>
    </dgm:pt>
    <dgm:pt modelId="{4BC23B8A-EC8E-4D95-BECC-C66CE21CEF46}" type="sibTrans" cxnId="{746FC451-245D-4232-A62B-324116F95F0C}">
      <dgm:prSet/>
      <dgm:spPr/>
      <dgm:t>
        <a:bodyPr/>
        <a:lstStyle/>
        <a:p>
          <a:endParaRPr lang="en-IN"/>
        </a:p>
      </dgm:t>
    </dgm:pt>
    <dgm:pt modelId="{59CE617B-A657-4181-AC11-3C6115F64D73}">
      <dgm:prSet phldrT="[Text]"/>
      <dgm:spPr/>
      <dgm:t>
        <a:bodyPr/>
        <a:lstStyle/>
        <a:p>
          <a:r>
            <a:rPr lang="en-IN" b="1" dirty="0"/>
            <a:t>Fetch Patient Data</a:t>
          </a:r>
          <a:endParaRPr lang="en-IN" dirty="0"/>
        </a:p>
      </dgm:t>
    </dgm:pt>
    <dgm:pt modelId="{EC26D155-913A-4E45-B2FF-8CFBD2BD3DF7}" type="parTrans" cxnId="{D28A7407-2FC4-44B9-8B80-E91495930C73}">
      <dgm:prSet/>
      <dgm:spPr/>
      <dgm:t>
        <a:bodyPr/>
        <a:lstStyle/>
        <a:p>
          <a:endParaRPr lang="en-IN"/>
        </a:p>
      </dgm:t>
    </dgm:pt>
    <dgm:pt modelId="{82CDB74E-58FF-4706-8E96-BF4A527DB234}" type="sibTrans" cxnId="{D28A7407-2FC4-44B9-8B80-E91495930C73}">
      <dgm:prSet/>
      <dgm:spPr/>
      <dgm:t>
        <a:bodyPr/>
        <a:lstStyle/>
        <a:p>
          <a:endParaRPr lang="en-IN"/>
        </a:p>
      </dgm:t>
    </dgm:pt>
    <dgm:pt modelId="{D1080853-3F09-40D7-BCD0-9B3271EA70D3}">
      <dgm:prSet phldrT="[Text]"/>
      <dgm:spPr/>
      <dgm:t>
        <a:bodyPr/>
        <a:lstStyle/>
        <a:p>
          <a:r>
            <a:rPr lang="en-IN" b="1" dirty="0"/>
            <a:t>Check Missing / Abnormal Values</a:t>
          </a:r>
          <a:endParaRPr lang="en-IN" dirty="0"/>
        </a:p>
      </dgm:t>
    </dgm:pt>
    <dgm:pt modelId="{E781AB84-533F-434D-83AD-85960BE1ABBF}" type="parTrans" cxnId="{6ECFBDFD-899B-449A-AFE1-4536229992CE}">
      <dgm:prSet/>
      <dgm:spPr/>
      <dgm:t>
        <a:bodyPr/>
        <a:lstStyle/>
        <a:p>
          <a:endParaRPr lang="en-IN"/>
        </a:p>
      </dgm:t>
    </dgm:pt>
    <dgm:pt modelId="{4EE21599-565D-436A-81F7-C1FA7F568887}" type="sibTrans" cxnId="{6ECFBDFD-899B-449A-AFE1-4536229992CE}">
      <dgm:prSet/>
      <dgm:spPr/>
      <dgm:t>
        <a:bodyPr/>
        <a:lstStyle/>
        <a:p>
          <a:endParaRPr lang="en-IN"/>
        </a:p>
      </dgm:t>
    </dgm:pt>
    <dgm:pt modelId="{B52B7810-E6E3-4A2D-A051-2B143B242D73}">
      <dgm:prSet phldrT="[Text]"/>
      <dgm:spPr/>
      <dgm:t>
        <a:bodyPr/>
        <a:lstStyle/>
        <a:p>
          <a:r>
            <a:rPr lang="en-IN" b="1" dirty="0"/>
            <a:t>AI Agent Node + Clinical Rule Engine</a:t>
          </a:r>
          <a:endParaRPr lang="en-IN" dirty="0"/>
        </a:p>
      </dgm:t>
    </dgm:pt>
    <dgm:pt modelId="{5AF7DDCD-499A-4A08-894E-250F2A37EC5F}" type="parTrans" cxnId="{CFEFD1FD-D7B3-472C-9143-2EFDE9740D6A}">
      <dgm:prSet/>
      <dgm:spPr/>
      <dgm:t>
        <a:bodyPr/>
        <a:lstStyle/>
        <a:p>
          <a:endParaRPr lang="en-IN"/>
        </a:p>
      </dgm:t>
    </dgm:pt>
    <dgm:pt modelId="{3334F89E-07AC-4820-BADC-8F167525FE06}" type="sibTrans" cxnId="{CFEFD1FD-D7B3-472C-9143-2EFDE9740D6A}">
      <dgm:prSet/>
      <dgm:spPr/>
      <dgm:t>
        <a:bodyPr/>
        <a:lstStyle/>
        <a:p>
          <a:endParaRPr lang="en-IN"/>
        </a:p>
      </dgm:t>
    </dgm:pt>
    <dgm:pt modelId="{52B0D425-E4CB-49EA-A546-93460F276F40}">
      <dgm:prSet phldrT="[Text]"/>
      <dgm:spPr/>
      <dgm:t>
        <a:bodyPr/>
        <a:lstStyle/>
        <a:p>
          <a:r>
            <a:rPr lang="en-IN" b="1" dirty="0"/>
            <a:t>Classify Risk: Green / Yellow / Orange / Red</a:t>
          </a:r>
          <a:endParaRPr lang="en-IN" dirty="0"/>
        </a:p>
      </dgm:t>
    </dgm:pt>
    <dgm:pt modelId="{54D2055A-C132-457C-9D5A-C46358DCF616}" type="parTrans" cxnId="{F643305D-0176-44E3-AD8E-019EBF7709B8}">
      <dgm:prSet/>
      <dgm:spPr/>
      <dgm:t>
        <a:bodyPr/>
        <a:lstStyle/>
        <a:p>
          <a:endParaRPr lang="en-IN"/>
        </a:p>
      </dgm:t>
    </dgm:pt>
    <dgm:pt modelId="{B88E7451-E0EB-4F47-8FD0-2DEEB7120DAF}" type="sibTrans" cxnId="{F643305D-0176-44E3-AD8E-019EBF7709B8}">
      <dgm:prSet/>
      <dgm:spPr/>
      <dgm:t>
        <a:bodyPr/>
        <a:lstStyle/>
        <a:p>
          <a:endParaRPr lang="en-IN"/>
        </a:p>
      </dgm:t>
    </dgm:pt>
    <dgm:pt modelId="{21A96009-4CB9-4D0D-BEDD-FA7EFD26B8F4}">
      <dgm:prSet phldrT="[Text]"/>
      <dgm:spPr/>
      <dgm:t>
        <a:bodyPr/>
        <a:lstStyle/>
        <a:p>
          <a:r>
            <a:rPr lang="en-IN" b="1" dirty="0"/>
            <a:t>Send Alert to Nurse Station</a:t>
          </a:r>
          <a:endParaRPr lang="en-IN" dirty="0"/>
        </a:p>
      </dgm:t>
    </dgm:pt>
    <dgm:pt modelId="{30CF36BA-32AA-43ED-B240-4B1190400658}" type="parTrans" cxnId="{D7F03425-7C09-43C8-80D7-101860F694A0}">
      <dgm:prSet/>
      <dgm:spPr/>
      <dgm:t>
        <a:bodyPr/>
        <a:lstStyle/>
        <a:p>
          <a:endParaRPr lang="en-IN"/>
        </a:p>
      </dgm:t>
    </dgm:pt>
    <dgm:pt modelId="{F0D4155D-C5F0-4BD7-BDDE-2842EB62185F}" type="sibTrans" cxnId="{D7F03425-7C09-43C8-80D7-101860F694A0}">
      <dgm:prSet/>
      <dgm:spPr/>
      <dgm:t>
        <a:bodyPr/>
        <a:lstStyle/>
        <a:p>
          <a:endParaRPr lang="en-IN"/>
        </a:p>
      </dgm:t>
    </dgm:pt>
    <dgm:pt modelId="{037ADB78-6593-4BE8-B554-C62093B3F676}">
      <dgm:prSet phldrT="[Text]"/>
      <dgm:spPr/>
      <dgm:t>
        <a:bodyPr/>
        <a:lstStyle/>
        <a:p>
          <a:r>
            <a:rPr lang="en-IN" b="1" dirty="0"/>
            <a:t>Record Alert in ERP / Dashboard</a:t>
          </a:r>
          <a:endParaRPr lang="en-IN" dirty="0"/>
        </a:p>
      </dgm:t>
    </dgm:pt>
    <dgm:pt modelId="{1FCAC391-45E6-4C86-B1B6-0DC039B6F455}" type="parTrans" cxnId="{270A9D15-43C8-4098-AA0C-4455C014DAFF}">
      <dgm:prSet/>
      <dgm:spPr/>
      <dgm:t>
        <a:bodyPr/>
        <a:lstStyle/>
        <a:p>
          <a:endParaRPr lang="en-IN"/>
        </a:p>
      </dgm:t>
    </dgm:pt>
    <dgm:pt modelId="{0DCE7973-A92F-492C-872B-21D72B6043B4}" type="sibTrans" cxnId="{270A9D15-43C8-4098-AA0C-4455C014DAFF}">
      <dgm:prSet/>
      <dgm:spPr/>
      <dgm:t>
        <a:bodyPr/>
        <a:lstStyle/>
        <a:p>
          <a:endParaRPr lang="en-IN"/>
        </a:p>
      </dgm:t>
    </dgm:pt>
    <dgm:pt modelId="{068E83BB-BF8B-444C-8432-FD7FC6AD3E28}">
      <dgm:prSet phldrT="[Text]"/>
      <dgm:spPr/>
      <dgm:t>
        <a:bodyPr/>
        <a:lstStyle/>
        <a:p>
          <a:r>
            <a:rPr lang="en-IN" b="1"/>
            <a:t>Nurse </a:t>
          </a:r>
          <a:r>
            <a:rPr lang="en-IN" b="1" dirty="0"/>
            <a:t>Acknowledgement and Follow-up Update</a:t>
          </a:r>
          <a:endParaRPr lang="en-IN" dirty="0"/>
        </a:p>
      </dgm:t>
    </dgm:pt>
    <dgm:pt modelId="{EF9BF692-7969-4EA4-A0BA-0DD282251BAE}" type="parTrans" cxnId="{93E4F116-6E27-4F31-AA63-9A4630D27713}">
      <dgm:prSet/>
      <dgm:spPr/>
      <dgm:t>
        <a:bodyPr/>
        <a:lstStyle/>
        <a:p>
          <a:endParaRPr lang="en-IN"/>
        </a:p>
      </dgm:t>
    </dgm:pt>
    <dgm:pt modelId="{11176397-D09D-43C9-93E1-A1574D32F835}" type="sibTrans" cxnId="{93E4F116-6E27-4F31-AA63-9A4630D27713}">
      <dgm:prSet/>
      <dgm:spPr/>
      <dgm:t>
        <a:bodyPr/>
        <a:lstStyle/>
        <a:p>
          <a:endParaRPr lang="en-IN"/>
        </a:p>
      </dgm:t>
    </dgm:pt>
    <dgm:pt modelId="{0EF4E0C2-E6F5-435F-97FF-8593292621E0}" type="pres">
      <dgm:prSet presAssocID="{DC6DDAE4-B77A-4179-AD37-8E6C26255B82}" presName="Name0" presStyleCnt="0">
        <dgm:presLayoutVars>
          <dgm:dir/>
          <dgm:animLvl val="lvl"/>
          <dgm:resizeHandles val="exact"/>
        </dgm:presLayoutVars>
      </dgm:prSet>
      <dgm:spPr/>
    </dgm:pt>
    <dgm:pt modelId="{9A2912C9-F94E-4C84-918B-02B3637C08C7}" type="pres">
      <dgm:prSet presAssocID="{068E83BB-BF8B-444C-8432-FD7FC6AD3E28}" presName="boxAndChildren" presStyleCnt="0"/>
      <dgm:spPr/>
    </dgm:pt>
    <dgm:pt modelId="{E9DBA572-FC9F-411C-B709-8C5F801A3F99}" type="pres">
      <dgm:prSet presAssocID="{068E83BB-BF8B-444C-8432-FD7FC6AD3E28}" presName="parentTextBox" presStyleLbl="node1" presStyleIdx="0" presStyleCnt="9"/>
      <dgm:spPr/>
    </dgm:pt>
    <dgm:pt modelId="{036E9B75-1A07-423A-805D-70B77B0C02F7}" type="pres">
      <dgm:prSet presAssocID="{0DCE7973-A92F-492C-872B-21D72B6043B4}" presName="sp" presStyleCnt="0"/>
      <dgm:spPr/>
    </dgm:pt>
    <dgm:pt modelId="{96D2EC08-D610-4DC6-A4C6-F62A0F682218}" type="pres">
      <dgm:prSet presAssocID="{037ADB78-6593-4BE8-B554-C62093B3F676}" presName="arrowAndChildren" presStyleCnt="0"/>
      <dgm:spPr/>
    </dgm:pt>
    <dgm:pt modelId="{D2D07655-B864-483D-8D3F-FEF9D138FD7B}" type="pres">
      <dgm:prSet presAssocID="{037ADB78-6593-4BE8-B554-C62093B3F676}" presName="parentTextArrow" presStyleLbl="node1" presStyleIdx="1" presStyleCnt="9"/>
      <dgm:spPr/>
    </dgm:pt>
    <dgm:pt modelId="{DA1778A6-5E4A-4133-9D57-71AA54359CB5}" type="pres">
      <dgm:prSet presAssocID="{F0D4155D-C5F0-4BD7-BDDE-2842EB62185F}" presName="sp" presStyleCnt="0"/>
      <dgm:spPr/>
    </dgm:pt>
    <dgm:pt modelId="{93024DA4-7EE1-4DF7-87A7-B590ED85E6B2}" type="pres">
      <dgm:prSet presAssocID="{21A96009-4CB9-4D0D-BEDD-FA7EFD26B8F4}" presName="arrowAndChildren" presStyleCnt="0"/>
      <dgm:spPr/>
    </dgm:pt>
    <dgm:pt modelId="{34F16B30-7484-4CE3-9862-B3DD3CEBD591}" type="pres">
      <dgm:prSet presAssocID="{21A96009-4CB9-4D0D-BEDD-FA7EFD26B8F4}" presName="parentTextArrow" presStyleLbl="node1" presStyleIdx="2" presStyleCnt="9"/>
      <dgm:spPr/>
    </dgm:pt>
    <dgm:pt modelId="{52A67E3F-9CD7-4AB9-9C86-72E316225197}" type="pres">
      <dgm:prSet presAssocID="{B88E7451-E0EB-4F47-8FD0-2DEEB7120DAF}" presName="sp" presStyleCnt="0"/>
      <dgm:spPr/>
    </dgm:pt>
    <dgm:pt modelId="{32A84205-592B-45DF-898B-CACC6FD0797C}" type="pres">
      <dgm:prSet presAssocID="{52B0D425-E4CB-49EA-A546-93460F276F40}" presName="arrowAndChildren" presStyleCnt="0"/>
      <dgm:spPr/>
    </dgm:pt>
    <dgm:pt modelId="{CAF85B0A-32CC-4F04-A671-E3EFDC2662DB}" type="pres">
      <dgm:prSet presAssocID="{52B0D425-E4CB-49EA-A546-93460F276F40}" presName="parentTextArrow" presStyleLbl="node1" presStyleIdx="3" presStyleCnt="9"/>
      <dgm:spPr/>
    </dgm:pt>
    <dgm:pt modelId="{C05A63A1-505F-4D79-B39C-87954CF8789B}" type="pres">
      <dgm:prSet presAssocID="{3334F89E-07AC-4820-BADC-8F167525FE06}" presName="sp" presStyleCnt="0"/>
      <dgm:spPr/>
    </dgm:pt>
    <dgm:pt modelId="{81E94683-6970-43AF-9B95-0E8C39C30710}" type="pres">
      <dgm:prSet presAssocID="{B52B7810-E6E3-4A2D-A051-2B143B242D73}" presName="arrowAndChildren" presStyleCnt="0"/>
      <dgm:spPr/>
    </dgm:pt>
    <dgm:pt modelId="{F5195BF9-0AFC-4036-9C46-3261DE488F05}" type="pres">
      <dgm:prSet presAssocID="{B52B7810-E6E3-4A2D-A051-2B143B242D73}" presName="parentTextArrow" presStyleLbl="node1" presStyleIdx="4" presStyleCnt="9"/>
      <dgm:spPr/>
    </dgm:pt>
    <dgm:pt modelId="{615407C2-BFD3-48B2-BC5E-A4F8BD7658E1}" type="pres">
      <dgm:prSet presAssocID="{4EE21599-565D-436A-81F7-C1FA7F568887}" presName="sp" presStyleCnt="0"/>
      <dgm:spPr/>
    </dgm:pt>
    <dgm:pt modelId="{3752BE79-684B-4CDC-9675-C9C516E83CDC}" type="pres">
      <dgm:prSet presAssocID="{D1080853-3F09-40D7-BCD0-9B3271EA70D3}" presName="arrowAndChildren" presStyleCnt="0"/>
      <dgm:spPr/>
    </dgm:pt>
    <dgm:pt modelId="{1957582E-9CB9-4AF7-AC1F-F3411F3969F0}" type="pres">
      <dgm:prSet presAssocID="{D1080853-3F09-40D7-BCD0-9B3271EA70D3}" presName="parentTextArrow" presStyleLbl="node1" presStyleIdx="5" presStyleCnt="9"/>
      <dgm:spPr/>
    </dgm:pt>
    <dgm:pt modelId="{24E9FA98-B646-47F0-83B3-8D0087E6D2E4}" type="pres">
      <dgm:prSet presAssocID="{82CDB74E-58FF-4706-8E96-BF4A527DB234}" presName="sp" presStyleCnt="0"/>
      <dgm:spPr/>
    </dgm:pt>
    <dgm:pt modelId="{BD3B8AA9-9F56-4125-B1A6-AE4F5D41FCEF}" type="pres">
      <dgm:prSet presAssocID="{59CE617B-A657-4181-AC11-3C6115F64D73}" presName="arrowAndChildren" presStyleCnt="0"/>
      <dgm:spPr/>
    </dgm:pt>
    <dgm:pt modelId="{10E41FF9-A448-4C7D-AD90-4A7666373D86}" type="pres">
      <dgm:prSet presAssocID="{59CE617B-A657-4181-AC11-3C6115F64D73}" presName="parentTextArrow" presStyleLbl="node1" presStyleIdx="6" presStyleCnt="9"/>
      <dgm:spPr/>
    </dgm:pt>
    <dgm:pt modelId="{99BBAC03-378C-484B-A592-004CDD3D57AF}" type="pres">
      <dgm:prSet presAssocID="{4BC23B8A-EC8E-4D95-BECC-C66CE21CEF46}" presName="sp" presStyleCnt="0"/>
      <dgm:spPr/>
    </dgm:pt>
    <dgm:pt modelId="{E6C9A993-2F76-47ED-8E96-9F719EEB914D}" type="pres">
      <dgm:prSet presAssocID="{C1CE6BA9-61B5-45AA-A857-88154F80E2E0}" presName="arrowAndChildren" presStyleCnt="0"/>
      <dgm:spPr/>
    </dgm:pt>
    <dgm:pt modelId="{79925FF3-D203-4030-8244-DF2BA13A6D2D}" type="pres">
      <dgm:prSet presAssocID="{C1CE6BA9-61B5-45AA-A857-88154F80E2E0}" presName="parentTextArrow" presStyleLbl="node1" presStyleIdx="7" presStyleCnt="9"/>
      <dgm:spPr/>
    </dgm:pt>
    <dgm:pt modelId="{6E9B7E7D-6205-4CDF-A590-65C2D5997435}" type="pres">
      <dgm:prSet presAssocID="{E00F234A-E4D7-49B6-82E1-2F08D00E6099}" presName="sp" presStyleCnt="0"/>
      <dgm:spPr/>
    </dgm:pt>
    <dgm:pt modelId="{319A57B6-F46C-4DAD-B505-2B559FD253B6}" type="pres">
      <dgm:prSet presAssocID="{A28A37C1-D9B7-4308-A240-3D6A2F16B2AF}" presName="arrowAndChildren" presStyleCnt="0"/>
      <dgm:spPr/>
    </dgm:pt>
    <dgm:pt modelId="{D21E73E5-E7CD-4C2B-899D-799FF399AB36}" type="pres">
      <dgm:prSet presAssocID="{A28A37C1-D9B7-4308-A240-3D6A2F16B2AF}" presName="parentTextArrow" presStyleLbl="node1" presStyleIdx="8" presStyleCnt="9" custLinFactNeighborX="8703" custLinFactNeighborY="-3763"/>
      <dgm:spPr/>
    </dgm:pt>
  </dgm:ptLst>
  <dgm:cxnLst>
    <dgm:cxn modelId="{D28A7407-2FC4-44B9-8B80-E91495930C73}" srcId="{DC6DDAE4-B77A-4179-AD37-8E6C26255B82}" destId="{59CE617B-A657-4181-AC11-3C6115F64D73}" srcOrd="2" destOrd="0" parTransId="{EC26D155-913A-4E45-B2FF-8CFBD2BD3DF7}" sibTransId="{82CDB74E-58FF-4706-8E96-BF4A527DB234}"/>
    <dgm:cxn modelId="{270A9D15-43C8-4098-AA0C-4455C014DAFF}" srcId="{DC6DDAE4-B77A-4179-AD37-8E6C26255B82}" destId="{037ADB78-6593-4BE8-B554-C62093B3F676}" srcOrd="7" destOrd="0" parTransId="{1FCAC391-45E6-4C86-B1B6-0DC039B6F455}" sibTransId="{0DCE7973-A92F-492C-872B-21D72B6043B4}"/>
    <dgm:cxn modelId="{93E4F116-6E27-4F31-AA63-9A4630D27713}" srcId="{DC6DDAE4-B77A-4179-AD37-8E6C26255B82}" destId="{068E83BB-BF8B-444C-8432-FD7FC6AD3E28}" srcOrd="8" destOrd="0" parTransId="{EF9BF692-7969-4EA4-A0BA-0DD282251BAE}" sibTransId="{11176397-D09D-43C9-93E1-A1574D32F835}"/>
    <dgm:cxn modelId="{C0DD8A17-9851-4A3B-B068-17E163678EC1}" type="presOf" srcId="{59CE617B-A657-4181-AC11-3C6115F64D73}" destId="{10E41FF9-A448-4C7D-AD90-4A7666373D86}" srcOrd="0" destOrd="0" presId="urn:microsoft.com/office/officeart/2005/8/layout/process4"/>
    <dgm:cxn modelId="{BFF7F320-FD9B-4D93-8E7B-BC599AF188FB}" type="presOf" srcId="{52B0D425-E4CB-49EA-A546-93460F276F40}" destId="{CAF85B0A-32CC-4F04-A671-E3EFDC2662DB}" srcOrd="0" destOrd="0" presId="urn:microsoft.com/office/officeart/2005/8/layout/process4"/>
    <dgm:cxn modelId="{D7F03425-7C09-43C8-80D7-101860F694A0}" srcId="{DC6DDAE4-B77A-4179-AD37-8E6C26255B82}" destId="{21A96009-4CB9-4D0D-BEDD-FA7EFD26B8F4}" srcOrd="6" destOrd="0" parTransId="{30CF36BA-32AA-43ED-B240-4B1190400658}" sibTransId="{F0D4155D-C5F0-4BD7-BDDE-2842EB62185F}"/>
    <dgm:cxn modelId="{2E71B12A-68EE-4BE7-9047-852B39D42639}" type="presOf" srcId="{A28A37C1-D9B7-4308-A240-3D6A2F16B2AF}" destId="{D21E73E5-E7CD-4C2B-899D-799FF399AB36}" srcOrd="0" destOrd="0" presId="urn:microsoft.com/office/officeart/2005/8/layout/process4"/>
    <dgm:cxn modelId="{F643305D-0176-44E3-AD8E-019EBF7709B8}" srcId="{DC6DDAE4-B77A-4179-AD37-8E6C26255B82}" destId="{52B0D425-E4CB-49EA-A546-93460F276F40}" srcOrd="5" destOrd="0" parTransId="{54D2055A-C132-457C-9D5A-C46358DCF616}" sibTransId="{B88E7451-E0EB-4F47-8FD0-2DEEB7120DAF}"/>
    <dgm:cxn modelId="{DF6C1763-D266-4381-A8C5-13E1D5DD64C1}" type="presOf" srcId="{21A96009-4CB9-4D0D-BEDD-FA7EFD26B8F4}" destId="{34F16B30-7484-4CE3-9862-B3DD3CEBD591}" srcOrd="0" destOrd="0" presId="urn:microsoft.com/office/officeart/2005/8/layout/process4"/>
    <dgm:cxn modelId="{BD3EF143-4AEA-4863-95E8-6ED9899E9D74}" type="presOf" srcId="{037ADB78-6593-4BE8-B554-C62093B3F676}" destId="{D2D07655-B864-483D-8D3F-FEF9D138FD7B}" srcOrd="0" destOrd="0" presId="urn:microsoft.com/office/officeart/2005/8/layout/process4"/>
    <dgm:cxn modelId="{57DE5C44-5DD5-44E1-9919-2A4EB66D75D6}" type="presOf" srcId="{068E83BB-BF8B-444C-8432-FD7FC6AD3E28}" destId="{E9DBA572-FC9F-411C-B709-8C5F801A3F99}" srcOrd="0" destOrd="0" presId="urn:microsoft.com/office/officeart/2005/8/layout/process4"/>
    <dgm:cxn modelId="{3D89C74D-412F-42F6-BBF8-A49E4A25B3BB}" type="presOf" srcId="{DC6DDAE4-B77A-4179-AD37-8E6C26255B82}" destId="{0EF4E0C2-E6F5-435F-97FF-8593292621E0}" srcOrd="0" destOrd="0" presId="urn:microsoft.com/office/officeart/2005/8/layout/process4"/>
    <dgm:cxn modelId="{746FC451-245D-4232-A62B-324116F95F0C}" srcId="{DC6DDAE4-B77A-4179-AD37-8E6C26255B82}" destId="{C1CE6BA9-61B5-45AA-A857-88154F80E2E0}" srcOrd="1" destOrd="0" parTransId="{7868B5ED-5D34-4A29-82AA-2AD5B1E559CA}" sibTransId="{4BC23B8A-EC8E-4D95-BECC-C66CE21CEF46}"/>
    <dgm:cxn modelId="{16995557-68D4-42D3-982C-A76E06160DAA}" type="presOf" srcId="{D1080853-3F09-40D7-BCD0-9B3271EA70D3}" destId="{1957582E-9CB9-4AF7-AC1F-F3411F3969F0}" srcOrd="0" destOrd="0" presId="urn:microsoft.com/office/officeart/2005/8/layout/process4"/>
    <dgm:cxn modelId="{54EA04A9-E680-4750-B316-3CE5930D27B7}" type="presOf" srcId="{C1CE6BA9-61B5-45AA-A857-88154F80E2E0}" destId="{79925FF3-D203-4030-8244-DF2BA13A6D2D}" srcOrd="0" destOrd="0" presId="urn:microsoft.com/office/officeart/2005/8/layout/process4"/>
    <dgm:cxn modelId="{AC1E1FB5-E8EF-47F2-9C8A-FFF0776B81FB}" type="presOf" srcId="{B52B7810-E6E3-4A2D-A051-2B143B242D73}" destId="{F5195BF9-0AFC-4036-9C46-3261DE488F05}" srcOrd="0" destOrd="0" presId="urn:microsoft.com/office/officeart/2005/8/layout/process4"/>
    <dgm:cxn modelId="{2B6AA8E7-2F3C-441A-9825-58898E217518}" srcId="{DC6DDAE4-B77A-4179-AD37-8E6C26255B82}" destId="{A28A37C1-D9B7-4308-A240-3D6A2F16B2AF}" srcOrd="0" destOrd="0" parTransId="{6801D2B6-0713-462D-A0DF-AE2A76CBACFD}" sibTransId="{E00F234A-E4D7-49B6-82E1-2F08D00E6099}"/>
    <dgm:cxn modelId="{6ECFBDFD-899B-449A-AFE1-4536229992CE}" srcId="{DC6DDAE4-B77A-4179-AD37-8E6C26255B82}" destId="{D1080853-3F09-40D7-BCD0-9B3271EA70D3}" srcOrd="3" destOrd="0" parTransId="{E781AB84-533F-434D-83AD-85960BE1ABBF}" sibTransId="{4EE21599-565D-436A-81F7-C1FA7F568887}"/>
    <dgm:cxn modelId="{CFEFD1FD-D7B3-472C-9143-2EFDE9740D6A}" srcId="{DC6DDAE4-B77A-4179-AD37-8E6C26255B82}" destId="{B52B7810-E6E3-4A2D-A051-2B143B242D73}" srcOrd="4" destOrd="0" parTransId="{5AF7DDCD-499A-4A08-894E-250F2A37EC5F}" sibTransId="{3334F89E-07AC-4820-BADC-8F167525FE06}"/>
    <dgm:cxn modelId="{A03EFA3E-C8DB-43A5-9D6C-8990CC259B23}" type="presParOf" srcId="{0EF4E0C2-E6F5-435F-97FF-8593292621E0}" destId="{9A2912C9-F94E-4C84-918B-02B3637C08C7}" srcOrd="0" destOrd="0" presId="urn:microsoft.com/office/officeart/2005/8/layout/process4"/>
    <dgm:cxn modelId="{42092BF3-E4DA-4754-A2D1-1AD9F008E4FD}" type="presParOf" srcId="{9A2912C9-F94E-4C84-918B-02B3637C08C7}" destId="{E9DBA572-FC9F-411C-B709-8C5F801A3F99}" srcOrd="0" destOrd="0" presId="urn:microsoft.com/office/officeart/2005/8/layout/process4"/>
    <dgm:cxn modelId="{F827412A-02C9-4A75-826A-DB1BA68DDEB6}" type="presParOf" srcId="{0EF4E0C2-E6F5-435F-97FF-8593292621E0}" destId="{036E9B75-1A07-423A-805D-70B77B0C02F7}" srcOrd="1" destOrd="0" presId="urn:microsoft.com/office/officeart/2005/8/layout/process4"/>
    <dgm:cxn modelId="{FB2B5C8C-B09A-41E0-8FFE-7B2FD31ACBDC}" type="presParOf" srcId="{0EF4E0C2-E6F5-435F-97FF-8593292621E0}" destId="{96D2EC08-D610-4DC6-A4C6-F62A0F682218}" srcOrd="2" destOrd="0" presId="urn:microsoft.com/office/officeart/2005/8/layout/process4"/>
    <dgm:cxn modelId="{0183D6D9-07AB-4754-BA30-0A9B77EE7586}" type="presParOf" srcId="{96D2EC08-D610-4DC6-A4C6-F62A0F682218}" destId="{D2D07655-B864-483D-8D3F-FEF9D138FD7B}" srcOrd="0" destOrd="0" presId="urn:microsoft.com/office/officeart/2005/8/layout/process4"/>
    <dgm:cxn modelId="{D9877B15-4783-40B7-842A-F3DDEC021BD4}" type="presParOf" srcId="{0EF4E0C2-E6F5-435F-97FF-8593292621E0}" destId="{DA1778A6-5E4A-4133-9D57-71AA54359CB5}" srcOrd="3" destOrd="0" presId="urn:microsoft.com/office/officeart/2005/8/layout/process4"/>
    <dgm:cxn modelId="{D74B1E38-6B72-4682-B1E9-331F60BC609D}" type="presParOf" srcId="{0EF4E0C2-E6F5-435F-97FF-8593292621E0}" destId="{93024DA4-7EE1-4DF7-87A7-B590ED85E6B2}" srcOrd="4" destOrd="0" presId="urn:microsoft.com/office/officeart/2005/8/layout/process4"/>
    <dgm:cxn modelId="{1C8BA4D9-E8A9-472E-9DCF-A3253FE0D529}" type="presParOf" srcId="{93024DA4-7EE1-4DF7-87A7-B590ED85E6B2}" destId="{34F16B30-7484-4CE3-9862-B3DD3CEBD591}" srcOrd="0" destOrd="0" presId="urn:microsoft.com/office/officeart/2005/8/layout/process4"/>
    <dgm:cxn modelId="{60D6769B-06DA-44A1-AC06-16CF35F49BA3}" type="presParOf" srcId="{0EF4E0C2-E6F5-435F-97FF-8593292621E0}" destId="{52A67E3F-9CD7-4AB9-9C86-72E316225197}" srcOrd="5" destOrd="0" presId="urn:microsoft.com/office/officeart/2005/8/layout/process4"/>
    <dgm:cxn modelId="{56A0211E-8239-4EF0-AC67-F5EAFFC3D64A}" type="presParOf" srcId="{0EF4E0C2-E6F5-435F-97FF-8593292621E0}" destId="{32A84205-592B-45DF-898B-CACC6FD0797C}" srcOrd="6" destOrd="0" presId="urn:microsoft.com/office/officeart/2005/8/layout/process4"/>
    <dgm:cxn modelId="{00461226-D856-4375-AFFF-0A1AFFA2D674}" type="presParOf" srcId="{32A84205-592B-45DF-898B-CACC6FD0797C}" destId="{CAF85B0A-32CC-4F04-A671-E3EFDC2662DB}" srcOrd="0" destOrd="0" presId="urn:microsoft.com/office/officeart/2005/8/layout/process4"/>
    <dgm:cxn modelId="{F89AEF72-03E9-434C-9FD6-6099AB5C7ED5}" type="presParOf" srcId="{0EF4E0C2-E6F5-435F-97FF-8593292621E0}" destId="{C05A63A1-505F-4D79-B39C-87954CF8789B}" srcOrd="7" destOrd="0" presId="urn:microsoft.com/office/officeart/2005/8/layout/process4"/>
    <dgm:cxn modelId="{2AB514D7-C6D3-4A01-93B5-9B6964684665}" type="presParOf" srcId="{0EF4E0C2-E6F5-435F-97FF-8593292621E0}" destId="{81E94683-6970-43AF-9B95-0E8C39C30710}" srcOrd="8" destOrd="0" presId="urn:microsoft.com/office/officeart/2005/8/layout/process4"/>
    <dgm:cxn modelId="{2F64C453-DCE7-4F96-835D-B4D05ECB825C}" type="presParOf" srcId="{81E94683-6970-43AF-9B95-0E8C39C30710}" destId="{F5195BF9-0AFC-4036-9C46-3261DE488F05}" srcOrd="0" destOrd="0" presId="urn:microsoft.com/office/officeart/2005/8/layout/process4"/>
    <dgm:cxn modelId="{08115F2F-15F7-4806-99DF-06D7B9E0633C}" type="presParOf" srcId="{0EF4E0C2-E6F5-435F-97FF-8593292621E0}" destId="{615407C2-BFD3-48B2-BC5E-A4F8BD7658E1}" srcOrd="9" destOrd="0" presId="urn:microsoft.com/office/officeart/2005/8/layout/process4"/>
    <dgm:cxn modelId="{B9D515D3-2304-46BA-BA9B-25E31DD52F10}" type="presParOf" srcId="{0EF4E0C2-E6F5-435F-97FF-8593292621E0}" destId="{3752BE79-684B-4CDC-9675-C9C516E83CDC}" srcOrd="10" destOrd="0" presId="urn:microsoft.com/office/officeart/2005/8/layout/process4"/>
    <dgm:cxn modelId="{98A37AD0-6B7E-476A-82DA-D29AC1B54566}" type="presParOf" srcId="{3752BE79-684B-4CDC-9675-C9C516E83CDC}" destId="{1957582E-9CB9-4AF7-AC1F-F3411F3969F0}" srcOrd="0" destOrd="0" presId="urn:microsoft.com/office/officeart/2005/8/layout/process4"/>
    <dgm:cxn modelId="{6101A54D-FA2A-4078-AB22-F966FAA5BFF9}" type="presParOf" srcId="{0EF4E0C2-E6F5-435F-97FF-8593292621E0}" destId="{24E9FA98-B646-47F0-83B3-8D0087E6D2E4}" srcOrd="11" destOrd="0" presId="urn:microsoft.com/office/officeart/2005/8/layout/process4"/>
    <dgm:cxn modelId="{DCE74264-D28D-416F-8152-39EE29568A8C}" type="presParOf" srcId="{0EF4E0C2-E6F5-435F-97FF-8593292621E0}" destId="{BD3B8AA9-9F56-4125-B1A6-AE4F5D41FCEF}" srcOrd="12" destOrd="0" presId="urn:microsoft.com/office/officeart/2005/8/layout/process4"/>
    <dgm:cxn modelId="{4DDC7E5E-BD5F-4BB8-9A03-2322118A89E9}" type="presParOf" srcId="{BD3B8AA9-9F56-4125-B1A6-AE4F5D41FCEF}" destId="{10E41FF9-A448-4C7D-AD90-4A7666373D86}" srcOrd="0" destOrd="0" presId="urn:microsoft.com/office/officeart/2005/8/layout/process4"/>
    <dgm:cxn modelId="{7BFA8ACE-64EE-491C-8C87-DC8F69C134A4}" type="presParOf" srcId="{0EF4E0C2-E6F5-435F-97FF-8593292621E0}" destId="{99BBAC03-378C-484B-A592-004CDD3D57AF}" srcOrd="13" destOrd="0" presId="urn:microsoft.com/office/officeart/2005/8/layout/process4"/>
    <dgm:cxn modelId="{F93A3352-7571-4735-B9F2-8DDE8C2CF366}" type="presParOf" srcId="{0EF4E0C2-E6F5-435F-97FF-8593292621E0}" destId="{E6C9A993-2F76-47ED-8E96-9F719EEB914D}" srcOrd="14" destOrd="0" presId="urn:microsoft.com/office/officeart/2005/8/layout/process4"/>
    <dgm:cxn modelId="{58937504-FE9F-44E6-AF4C-56259F111441}" type="presParOf" srcId="{E6C9A993-2F76-47ED-8E96-9F719EEB914D}" destId="{79925FF3-D203-4030-8244-DF2BA13A6D2D}" srcOrd="0" destOrd="0" presId="urn:microsoft.com/office/officeart/2005/8/layout/process4"/>
    <dgm:cxn modelId="{30D56705-1751-41C9-8ABD-613F0B35C73F}" type="presParOf" srcId="{0EF4E0C2-E6F5-435F-97FF-8593292621E0}" destId="{6E9B7E7D-6205-4CDF-A590-65C2D5997435}" srcOrd="15" destOrd="0" presId="urn:microsoft.com/office/officeart/2005/8/layout/process4"/>
    <dgm:cxn modelId="{C863722A-AA9D-4406-840F-EB2364CD7EFD}" type="presParOf" srcId="{0EF4E0C2-E6F5-435F-97FF-8593292621E0}" destId="{319A57B6-F46C-4DAD-B505-2B559FD253B6}" srcOrd="16" destOrd="0" presId="urn:microsoft.com/office/officeart/2005/8/layout/process4"/>
    <dgm:cxn modelId="{049A59B5-FC20-4C14-99AB-E2687DF19FF5}" type="presParOf" srcId="{319A57B6-F46C-4DAD-B505-2B559FD253B6}" destId="{D21E73E5-E7CD-4C2B-899D-799FF399AB3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BA572-FC9F-411C-B709-8C5F801A3F99}">
      <dsp:nvSpPr>
        <dsp:cNvPr id="0" name=""/>
        <dsp:cNvSpPr/>
      </dsp:nvSpPr>
      <dsp:spPr>
        <a:xfrm>
          <a:off x="0" y="4563410"/>
          <a:ext cx="7724475" cy="3744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Nurse </a:t>
          </a:r>
          <a:r>
            <a:rPr lang="en-IN" sz="1300" b="1" kern="1200" dirty="0"/>
            <a:t>Acknowledgement and Follow-up Update</a:t>
          </a:r>
          <a:endParaRPr lang="en-IN" sz="1300" kern="1200" dirty="0"/>
        </a:p>
      </dsp:txBody>
      <dsp:txXfrm>
        <a:off x="0" y="4563410"/>
        <a:ext cx="7724475" cy="374424"/>
      </dsp:txXfrm>
    </dsp:sp>
    <dsp:sp modelId="{D2D07655-B864-483D-8D3F-FEF9D138FD7B}">
      <dsp:nvSpPr>
        <dsp:cNvPr id="0" name=""/>
        <dsp:cNvSpPr/>
      </dsp:nvSpPr>
      <dsp:spPr>
        <a:xfrm rot="10800000">
          <a:off x="0" y="3993162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Record Alert in ERP / Dashboard</a:t>
          </a:r>
          <a:endParaRPr lang="en-IN" sz="1300" kern="1200" dirty="0"/>
        </a:p>
      </dsp:txBody>
      <dsp:txXfrm rot="10800000">
        <a:off x="0" y="3993162"/>
        <a:ext cx="7724475" cy="374179"/>
      </dsp:txXfrm>
    </dsp:sp>
    <dsp:sp modelId="{34F16B30-7484-4CE3-9862-B3DD3CEBD591}">
      <dsp:nvSpPr>
        <dsp:cNvPr id="0" name=""/>
        <dsp:cNvSpPr/>
      </dsp:nvSpPr>
      <dsp:spPr>
        <a:xfrm rot="10800000">
          <a:off x="0" y="3422914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Send Alert to Nurse Station</a:t>
          </a:r>
          <a:endParaRPr lang="en-IN" sz="1300" kern="1200" dirty="0"/>
        </a:p>
      </dsp:txBody>
      <dsp:txXfrm rot="10800000">
        <a:off x="0" y="3422914"/>
        <a:ext cx="7724475" cy="374179"/>
      </dsp:txXfrm>
    </dsp:sp>
    <dsp:sp modelId="{CAF85B0A-32CC-4F04-A671-E3EFDC2662DB}">
      <dsp:nvSpPr>
        <dsp:cNvPr id="0" name=""/>
        <dsp:cNvSpPr/>
      </dsp:nvSpPr>
      <dsp:spPr>
        <a:xfrm rot="10800000">
          <a:off x="0" y="2852666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Classify Risk: Green / Yellow / Orange / Red</a:t>
          </a:r>
          <a:endParaRPr lang="en-IN" sz="1300" kern="1200" dirty="0"/>
        </a:p>
      </dsp:txBody>
      <dsp:txXfrm rot="10800000">
        <a:off x="0" y="2852666"/>
        <a:ext cx="7724475" cy="374179"/>
      </dsp:txXfrm>
    </dsp:sp>
    <dsp:sp modelId="{F5195BF9-0AFC-4036-9C46-3261DE488F05}">
      <dsp:nvSpPr>
        <dsp:cNvPr id="0" name=""/>
        <dsp:cNvSpPr/>
      </dsp:nvSpPr>
      <dsp:spPr>
        <a:xfrm rot="10800000">
          <a:off x="0" y="2282418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AI Agent Node + Clinical Rule Engine</a:t>
          </a:r>
          <a:endParaRPr lang="en-IN" sz="1300" kern="1200" dirty="0"/>
        </a:p>
      </dsp:txBody>
      <dsp:txXfrm rot="10800000">
        <a:off x="0" y="2282418"/>
        <a:ext cx="7724475" cy="374179"/>
      </dsp:txXfrm>
    </dsp:sp>
    <dsp:sp modelId="{1957582E-9CB9-4AF7-AC1F-F3411F3969F0}">
      <dsp:nvSpPr>
        <dsp:cNvPr id="0" name=""/>
        <dsp:cNvSpPr/>
      </dsp:nvSpPr>
      <dsp:spPr>
        <a:xfrm rot="10800000">
          <a:off x="0" y="1712171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Check Missing / Abnormal Values</a:t>
          </a:r>
          <a:endParaRPr lang="en-IN" sz="1300" kern="1200" dirty="0"/>
        </a:p>
      </dsp:txBody>
      <dsp:txXfrm rot="10800000">
        <a:off x="0" y="1712171"/>
        <a:ext cx="7724475" cy="374179"/>
      </dsp:txXfrm>
    </dsp:sp>
    <dsp:sp modelId="{10E41FF9-A448-4C7D-AD90-4A7666373D86}">
      <dsp:nvSpPr>
        <dsp:cNvPr id="0" name=""/>
        <dsp:cNvSpPr/>
      </dsp:nvSpPr>
      <dsp:spPr>
        <a:xfrm rot="10800000">
          <a:off x="0" y="1141923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Fetch Patient Data</a:t>
          </a:r>
          <a:endParaRPr lang="en-IN" sz="1300" kern="1200" dirty="0"/>
        </a:p>
      </dsp:txBody>
      <dsp:txXfrm rot="10800000">
        <a:off x="0" y="1141923"/>
        <a:ext cx="7724475" cy="374179"/>
      </dsp:txXfrm>
    </dsp:sp>
    <dsp:sp modelId="{79925FF3-D203-4030-8244-DF2BA13A6D2D}">
      <dsp:nvSpPr>
        <dsp:cNvPr id="0" name=""/>
        <dsp:cNvSpPr/>
      </dsp:nvSpPr>
      <dsp:spPr>
        <a:xfrm rot="10800000">
          <a:off x="0" y="571675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n8n Webhook or Database Trigger</a:t>
          </a:r>
          <a:endParaRPr lang="en-IN" sz="1300" kern="1200" dirty="0"/>
        </a:p>
      </dsp:txBody>
      <dsp:txXfrm rot="10800000">
        <a:off x="0" y="571675"/>
        <a:ext cx="7724475" cy="374179"/>
      </dsp:txXfrm>
    </dsp:sp>
    <dsp:sp modelId="{D21E73E5-E7CD-4C2B-899D-799FF399AB36}">
      <dsp:nvSpPr>
        <dsp:cNvPr id="0" name=""/>
        <dsp:cNvSpPr/>
      </dsp:nvSpPr>
      <dsp:spPr>
        <a:xfrm rot="10800000">
          <a:off x="0" y="0"/>
          <a:ext cx="7724475" cy="575864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Hospital ERP / HIS Data Update</a:t>
          </a:r>
          <a:endParaRPr lang="en-IN" sz="1300" kern="1200" dirty="0"/>
        </a:p>
      </dsp:txBody>
      <dsp:txXfrm rot="10800000">
        <a:off x="0" y="0"/>
        <a:ext cx="7724475" cy="374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9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purpose: not a full textbook, but a ready-to-teach starter deck that can be expanded into handouts or video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prompt: contrast a chatbot and an agent. A chatbot answers; an agent completes a bounded workflow with tools and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the SPARC RHealth idea: grounded data, community context, behavioral theories, and responsible digital health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agentic AI is strongest when it creates traceable, reviewable steps rather than black-box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instruction slide before group work. Encourage groups to keep their design grounded and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cases are health-focused and align closely with Sessions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cases align with Sessions 5 and 6. Ask learners to identify where agentic AI genuinely helps and where human judgement remains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6E8F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2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for Health and Academic Research | SPARC Course</a:t>
            </a:r>
            <a:endParaRPr lang="en-US" sz="78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707A44-A229-610F-792B-C12B7A73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493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9160C5F-366E-84EE-5090-B16262D4E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346500"/>
            <a:ext cx="10515600" cy="4976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3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6E8F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2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for Health and Academic Research | SPARC Course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24556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6E8F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2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for Health and Academic Research | SPARC Course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96495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F7E2-87D2-B1D2-B301-4F3A2E38F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92" y="3634536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7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60461532-E63E-BEAC-5753-4EE368AC9B5B}"/>
              </a:ext>
            </a:extLst>
          </p:cNvPr>
          <p:cNvSpPr/>
          <p:nvPr userDrawn="1"/>
        </p:nvSpPr>
        <p:spPr>
          <a:xfrm>
            <a:off x="11809562" y="0"/>
            <a:ext cx="382438" cy="629728"/>
          </a:xfrm>
          <a:prstGeom prst="downArrow">
            <a:avLst>
              <a:gd name="adj1" fmla="val 100000"/>
              <a:gd name="adj2" fmla="val 5902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DA5B77A9-705C-4164-BA1C-EB2C9804CB1E}" type="slidenum">
              <a:rPr lang="en-IN" sz="1200" b="1" smtClean="0"/>
              <a:t>‹#›</a:t>
            </a:fld>
            <a:endParaRPr lang="en-IN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4231" y="2217852"/>
            <a:ext cx="2423160" cy="2423160"/>
          </a:xfrm>
          <a:prstGeom prst="ellipse">
            <a:avLst/>
          </a:prstGeom>
          <a:solidFill>
            <a:srgbClr val="DDF7F7">
              <a:alpha val="75000"/>
            </a:srgbClr>
          </a:solidFill>
          <a:ln w="12700">
            <a:solidFill>
              <a:srgbClr val="00A6A6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7191" y="2857932"/>
            <a:ext cx="1143000" cy="1143000"/>
          </a:xfrm>
          <a:prstGeom prst="ellipse">
            <a:avLst/>
          </a:prstGeom>
          <a:solidFill>
            <a:srgbClr val="FFF2D1">
              <a:alpha val="85000"/>
            </a:srgbClr>
          </a:solidFill>
          <a:ln w="12700">
            <a:solidFill>
              <a:srgbClr val="F4B942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3371" y="2609491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</a:rPr>
              <a:t>Agentic AI for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</a:rPr>
              <a:t>Health and Academic Research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3EE85A-A185-A659-33EE-E6C0C1958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76" y="5394255"/>
            <a:ext cx="1076646" cy="10766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1F984D-17A4-82D1-1B4A-C2BF5185D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239" y="5256208"/>
            <a:ext cx="10688542" cy="1352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935B-CB15-DBC8-F6B7-3E2F879C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Agents- Concepts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600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Agentic AI for Health and Academic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Agentic AI: Concept, tools, and how to create agents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833"/>
                </a:solidFill>
              </a:rPr>
              <a:t>Agentic AI = an AI system that can plan, use tools, remember context, check results, and hand work to specialist agents under human-defined boundaries.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965960" y="2423160"/>
            <a:ext cx="64008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2423160"/>
            <a:ext cx="64008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32120" y="2423160"/>
            <a:ext cx="64008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0" y="2423160"/>
            <a:ext cx="64008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98280" y="2423160"/>
            <a:ext cx="64008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1920240"/>
            <a:ext cx="1005840" cy="10058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1920240"/>
            <a:ext cx="1005840" cy="10058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920240"/>
            <a:ext cx="1005840" cy="10058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1005840" cy="1005840"/>
          </a:xfrm>
          <a:prstGeom prst="ellipse">
            <a:avLst/>
          </a:prstGeom>
          <a:solidFill>
            <a:srgbClr val="EF767A"/>
          </a:solidFill>
          <a:ln w="12700">
            <a:solidFill>
              <a:srgbClr val="EF76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1005840" cy="100584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29800" y="192024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 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4290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EAF9F4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5661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Core building blocks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904488"/>
            <a:ext cx="30632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Model with clear role/instructions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Tools: search, database, code, calendar, document reader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Memory/state for continuity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Guardrails: privacy, safety,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Handoffs or sub-agents for specialist tasks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34290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DDF7F7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566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Popular frameworks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904488"/>
            <a:ext cx="31089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OpenAI Agents SDK: agents, tools, handoffs, guardrails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LangChain/LangGraph: tool calling and orchestration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CrewAI: role-based multi-agent workflows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Microsoft Agent Framework/AutoGen lineage: multi-agent patterns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4290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8E6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5661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Classroom creation recipe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3904488"/>
            <a:ext cx="28803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1. Define a narrow task and success criteria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2. Choose tools and data sources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3. Write the agent instruction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4. Add checks, citations, and human approval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5. Test with 5–10 real scenarios before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Agentic AI?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</a:rPr>
              <a:t>From response generation to goal-oriented action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30352" y="1188720"/>
            <a:ext cx="5230368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53312"/>
            <a:ext cx="477316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2545"/>
                </a:solidFill>
              </a:rPr>
              <a:t>Agentic AI refers to AI systems that can understand a goal, plan steps, use tools, act on information, and refine their output with limited human intervention.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758952" y="941832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010412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Core idea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E8A8A"/>
                </a:solidFill>
              </a:rPr>
              <a:t>Classroom explanation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21488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545"/>
                </a:solidFill>
              </a:rPr>
              <a:t>Ordinary AI chatbot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68096" y="31546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Answers questions or generates content based on a prompt.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3081528"/>
            <a:ext cx="502920" cy="502920"/>
          </a:xfrm>
          <a:prstGeom prst="chevron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697480"/>
            <a:ext cx="2148840" cy="1353312"/>
          </a:xfrm>
          <a:prstGeom prst="rect">
            <a:avLst/>
          </a:prstGeom>
          <a:solidFill>
            <a:srgbClr val="DDF7F7"/>
          </a:solidFill>
          <a:ln w="12700">
            <a:solidFill>
              <a:srgbClr val="99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545"/>
                </a:solidFill>
              </a:rPr>
              <a:t>Agentic AI system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739896" y="315468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Works through a task: plans, uses tools, checks progress, and completes a goal.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437083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E8A8A"/>
                </a:solidFill>
              </a:rPr>
              <a:t>Key components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658368" y="471830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Goal: final task to achieve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58368" y="51480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Planning: breaks goal into steps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58368" y="557784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Memory: keeps context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3447288" y="471830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Tool use: calls external systems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447288" y="51480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Reasoning: chooses next action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447288" y="557784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Reflection: checks quality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446520" y="4882896"/>
            <a:ext cx="5102352" cy="621792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 w="12700">
            <a:solidFill>
              <a:srgbClr val="F2C8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507492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Takeaway: Agentic AI = AI that can plan, use tools, act, and improve its response to achieve a goal.</a:t>
            </a:r>
            <a:endParaRPr lang="en-US" sz="12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D0B4B3F-BCFE-7CBD-0B8C-4DD755903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24" y="546851"/>
            <a:ext cx="5001323" cy="351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Agentic AI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</a:rPr>
              <a:t>Architecture, tools, and creating simple agents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E8A8A"/>
                </a:solidFill>
              </a:rPr>
              <a:t>Basic architecture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2871216" y="1664208"/>
            <a:ext cx="256032" cy="0"/>
          </a:xfrm>
          <a:prstGeom prst="line">
            <a:avLst/>
          </a:prstGeom>
          <a:noFill/>
          <a:ln w="17780">
            <a:solidFill>
              <a:srgbClr val="0E8A8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72584" y="1664208"/>
            <a:ext cx="256032" cy="0"/>
          </a:xfrm>
          <a:prstGeom prst="line">
            <a:avLst/>
          </a:prstGeom>
          <a:noFill/>
          <a:ln w="17780">
            <a:solidFill>
              <a:srgbClr val="0E8A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39128" y="1664208"/>
            <a:ext cx="256032" cy="0"/>
          </a:xfrm>
          <a:prstGeom prst="line">
            <a:avLst/>
          </a:prstGeom>
          <a:noFill/>
          <a:ln w="17780">
            <a:solidFill>
              <a:srgbClr val="0E8A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89720" y="1664208"/>
            <a:ext cx="256032" cy="0"/>
          </a:xfrm>
          <a:prstGeom prst="line">
            <a:avLst/>
          </a:prstGeom>
          <a:noFill/>
          <a:ln w="17780">
            <a:solidFill>
              <a:srgbClr val="0E8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" y="1417320"/>
            <a:ext cx="212140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81912"/>
            <a:ext cx="19385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2545"/>
                </a:solidFill>
              </a:rPr>
              <a:t>User / Researcher / Health Worker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999232" y="141732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58191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2545"/>
                </a:solidFill>
              </a:rPr>
              <a:t>Agent Interface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809744" y="1417320"/>
            <a:ext cx="1856232" cy="502920"/>
          </a:xfrm>
          <a:prstGeom prst="roundRect">
            <a:avLst>
              <a:gd name="adj" fmla="val 9091"/>
            </a:avLst>
          </a:prstGeom>
          <a:solidFill>
            <a:srgbClr val="DDF7F7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58191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2545"/>
                </a:solidFill>
              </a:rPr>
              <a:t>LLM / Reasoning Engine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903720" y="1417320"/>
            <a:ext cx="221284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581912"/>
            <a:ext cx="2029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2545"/>
                </a:solidFill>
              </a:rPr>
              <a:t>Planner + Memory + Safety Rules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354312" y="1417320"/>
            <a:ext cx="198424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1581912"/>
            <a:ext cx="1801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2545"/>
                </a:solidFill>
              </a:rPr>
              <a:t>Tools + Knowledge Base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94360" y="226771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E8A8A"/>
                </a:solidFill>
              </a:rPr>
              <a:t>Reason–act–observe loop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58368" y="2633472"/>
            <a:ext cx="10835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User Goal  →  Agent Reasoning  →  Plan  →  Tool Use  →  Observation  →  Reflection  →  Final Output / Next 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E8A8A"/>
                </a:solidFill>
              </a:rPr>
              <a:t>Common tools connected to agents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" y="3611880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30752"/>
            <a:ext cx="13533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545"/>
                </a:solidFill>
              </a:rPr>
              <a:t>Search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23744" y="3611880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3730752"/>
            <a:ext cx="13533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545"/>
                </a:solidFill>
              </a:rPr>
              <a:t>Database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89120" y="3611880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3730752"/>
            <a:ext cx="13533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545"/>
                </a:solidFill>
              </a:rPr>
              <a:t>Python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54496" y="3611880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730752"/>
            <a:ext cx="13533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545"/>
                </a:solidFill>
              </a:rPr>
              <a:t>Spreadsheet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19872" y="3611880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3730752"/>
            <a:ext cx="13533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545"/>
                </a:solidFill>
              </a:rPr>
              <a:t>EHR / Health app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985248" y="3611880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3730752"/>
            <a:ext cx="13533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545"/>
                </a:solidFill>
              </a:rPr>
              <a:t>Literature DB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434340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E8A8A"/>
                </a:solidFill>
              </a:rPr>
              <a:t>Main building blocks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676656" y="4663440"/>
            <a:ext cx="5074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</a:rPr>
              <a:t>Foundation model understands language and generates responses.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</a:rPr>
              <a:t>Prompt layer defines the role, limits, and task style.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</a:rPr>
              <a:t>Planner, memory, tools, knowledge base, and guardrails make it agentic.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</a:rPr>
              <a:t>Human-in-the-loop review is essential in health and research.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6446520" y="4343400"/>
            <a:ext cx="5102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CD9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56832" y="3986784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B5822B"/>
          </a:solidFill>
          <a:ln w="12700">
            <a:solidFill>
              <a:srgbClr val="B582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9984" y="4055364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How to create a simple AI agent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02552" y="452628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</a:rPr>
              <a:t>1. Define purpose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02552" y="478231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2. Define user &amp; context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02552" y="503834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3. Define inputs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02552" y="529437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4. Choose tools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34272" y="452628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5. Set workflow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034272" y="4782312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6. Add safety rules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034272" y="5038344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7. Test with cases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46520" y="5650992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DDF7F7"/>
          </a:solidFill>
          <a:ln w="12700">
            <a:solidFill>
              <a:srgbClr val="99DC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8544" y="5806440"/>
            <a:ext cx="4718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B2545"/>
                </a:solidFill>
              </a:rPr>
              <a:t>Mini example: Research Design Assistant → converts a broad idea into objectives, variables, methods, ethical issues, and a faculty-review-ready plan.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D9F369-2389-8E64-8608-CC398BE5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Agents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14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for Building Agentic 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50392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Choose the tool based on the job: visual workflow, coding framework, model layer, memory, app integration, or safety.</a:t>
            </a:r>
            <a:endParaRPr lang="en-US" sz="1070" dirty="0"/>
          </a:p>
        </p:txBody>
      </p:sp>
      <p:sp>
        <p:nvSpPr>
          <p:cNvPr id="5" name="Text 3"/>
          <p:cNvSpPr/>
          <p:nvPr/>
        </p:nvSpPr>
        <p:spPr>
          <a:xfrm>
            <a:off x="8778240" y="320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 Health &amp; Academic Research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246120" cy="4663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6000"/>
              </a:srgbClr>
            </a:outerShdw>
          </a:effectLst>
        </p:spPr>
      </p:sp>
      <p:pic>
        <p:nvPicPr>
          <p:cNvPr id="8" name="Image 0" descr="/mnt/data/crewai_langchain_n8n.jpg"/>
          <p:cNvPicPr>
            <a:picLocks noChangeAspect="1"/>
          </p:cNvPicPr>
          <p:nvPr/>
        </p:nvPicPr>
        <p:blipFill>
          <a:blip r:embed="rId3"/>
          <a:srcRect l="7509" r="7509"/>
          <a:stretch/>
        </p:blipFill>
        <p:spPr>
          <a:xfrm>
            <a:off x="896112" y="1874520"/>
            <a:ext cx="2651760" cy="1783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0872" y="3941065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F1F5F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6592" y="4037077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</a:rPr>
              <a:t>OpenAI Agents SDK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880872" y="4398265"/>
            <a:ext cx="1170432" cy="347472"/>
          </a:xfrm>
          <a:prstGeom prst="roundRect">
            <a:avLst>
              <a:gd name="adj" fmla="val 31579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6592" y="4494277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563EB"/>
                </a:solidFill>
              </a:rPr>
              <a:t>Google ADK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2161032" y="4398265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06752" y="4494277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7C3AED"/>
                </a:solidFill>
              </a:rPr>
              <a:t>Microsoft AutoGen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880872" y="4855465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6592" y="4951477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97316"/>
                </a:solidFill>
              </a:rPr>
              <a:t>Zapier AI / Make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4069080" y="13258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7FA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69080" y="1325880"/>
            <a:ext cx="73152" cy="1417320"/>
          </a:xfrm>
          <a:prstGeom prst="rect">
            <a:avLst/>
          </a:prstGeom>
          <a:solidFill>
            <a:srgbClr val="E84D75"/>
          </a:solidFill>
          <a:ln w="12700">
            <a:solidFill>
              <a:srgbClr val="E84D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70248" y="149047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E84D75"/>
                </a:solidFill>
              </a:rPr>
              <a:t>1. Visual / low-code workflow builders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315968" y="1856232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n8n: AI Agent workflows with tools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Zapier AI / Make: app automation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Flowise: visual LLM app builder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7955280" y="13258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5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955280" y="132588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56448" y="149047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2. Developer frameworks for agents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02168" y="1856232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LangChain + LangGraph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CrewAI: role-based multi-agent teams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Microsoft AutoGen; Google ADK</a:t>
            </a: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4069080" y="299923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6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069080" y="2999232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70248" y="3163824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3. Model + agent platforms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315968" y="3529584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OpenAI Agents SDK / API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Anthropic Claude tools / MCP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Gemini / Vertex AI Agent Builder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7955280" y="299923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FFA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955280" y="2999232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56448" y="3163824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4. Memory, knowledge and retrieval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202168" y="3529584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Vector DBs: Pinecone, Weaviate, Chroma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RAG over PDFs, datasets, guidelines</a:t>
            </a:r>
            <a:endParaRPr lang="en-US" sz="1060" dirty="0"/>
          </a:p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SQL / Sheets / institutional databases</a:t>
            </a:r>
            <a:endParaRPr lang="en-US" sz="1060" dirty="0"/>
          </a:p>
        </p:txBody>
      </p:sp>
      <p:sp>
        <p:nvSpPr>
          <p:cNvPr id="34" name="Shape 31"/>
          <p:cNvSpPr/>
          <p:nvPr/>
        </p:nvSpPr>
        <p:spPr>
          <a:xfrm>
            <a:off x="4069080" y="466344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081272" y="3986785"/>
            <a:ext cx="73152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70248" y="4828032"/>
            <a:ext cx="7114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</a:rPr>
              <a:t>5. Integration, deployment and safety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315968" y="5193792"/>
            <a:ext cx="6995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60" dirty="0">
                <a:solidFill>
                  <a:srgbClr val="0F172A"/>
                </a:solidFill>
              </a:rPr>
              <a:t>FastAPI, webhooks, Docker, cloud hosting, logging, evaluation, guardrails, human approval and audit trails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n8n Adds to Agentic 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From “AI gives an answer” to “AI runs a visible workflow with tools, data, checks, and actions.”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32520" y="301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 Health &amp; Academic Research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3291840" cy="4480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FF"/>
                </a:solidFill>
              </a:rPr>
              <a:t>n8n in one 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26974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n8n is a low-code workflow automation platform where every step is represented as a node on a visual canvas. For agentic AI, this means the agent can reason, call tools, pass data, and trigger actions in a transparent way.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26974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Visual workflow canvas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Connects apps, APIs and databases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Can use AI Agent nodes with tools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Can be self-hosted or cloud-based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5138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97316"/>
                </a:solidFill>
              </a:rPr>
              <a:t>Teaching hook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2651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Think of it as a “lab bench” where the AI brain is connected to instruments.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0832" y="2057400"/>
            <a:ext cx="475488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26480" y="2057400"/>
            <a:ext cx="484632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01000" y="2057400"/>
            <a:ext cx="50292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29800" y="2057400"/>
            <a:ext cx="50292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69080" y="1664208"/>
            <a:ext cx="1234440" cy="786384"/>
          </a:xfrm>
          <a:prstGeom prst="roundRect">
            <a:avLst>
              <a:gd name="adj" fmla="val 8140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728216"/>
            <a:ext cx="1143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Form / Chat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664208"/>
            <a:ext cx="1417320" cy="786384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728216"/>
            <a:ext cx="13258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Reason + decide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664208"/>
            <a:ext cx="1417320" cy="786384"/>
          </a:xfrm>
          <a:prstGeom prst="roundRect">
            <a:avLst>
              <a:gd name="adj" fmla="val 8140"/>
            </a:avLst>
          </a:prstGeom>
          <a:solidFill>
            <a:srgbClr val="E6FFF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728216"/>
            <a:ext cx="13258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Search / Sheets /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59952" y="1664208"/>
            <a:ext cx="1325880" cy="786384"/>
          </a:xfrm>
          <a:prstGeom prst="roundRect">
            <a:avLst>
              <a:gd name="adj" fmla="val 8140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5672" y="1728216"/>
            <a:ext cx="1234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Logic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IF / rules / 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469880" y="1664208"/>
            <a:ext cx="1234440" cy="786384"/>
          </a:xfrm>
          <a:prstGeom prst="roundRect">
            <a:avLst>
              <a:gd name="adj" fmla="val 8140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0" y="1728216"/>
            <a:ext cx="1143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Report / Alert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EEF6FF"/>
          </a:solidFill>
          <a:ln w="12700">
            <a:solidFill>
              <a:srgbClr val="BCD3FF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34840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FF"/>
                </a:solidFill>
              </a:rPr>
              <a:t>Why useful for teaching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703320"/>
            <a:ext cx="144475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Learners can see the workflow, not just hear theory.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06324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1FFFA"/>
          </a:solidFill>
          <a:ln w="12700">
            <a:solidFill>
              <a:srgbClr val="BDEDDD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12280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Why useful for research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0568" y="3703320"/>
            <a:ext cx="1463040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Tasks can be broken into steps: collect, verify, analyze, write.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0" y="306324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4EA"/>
          </a:solidFill>
          <a:ln w="12700">
            <a:solidFill>
              <a:srgbClr val="FFD3B8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17152" y="3310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Why useful for health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17152" y="3703320"/>
            <a:ext cx="144475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Rules, review points, and data sources can be made explicit.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60520" y="5074920"/>
            <a:ext cx="68122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5285232"/>
            <a:ext cx="6309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message: n8n does not replace the AI model. It gives the model a controlled workflow, tools, and action path.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Anatomy of an n8n AI Agent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practical agent is a workflow: trigger → model → tools → memory → output → human review.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32520" y="301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 Health &amp; Academic Research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243584"/>
            <a:ext cx="110185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93392" y="2633472"/>
            <a:ext cx="3840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93592" y="2633472"/>
            <a:ext cx="4297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39512" y="2633472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12864" y="2633472"/>
            <a:ext cx="4297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58784" y="2633472"/>
            <a:ext cx="4937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268712" y="2633472"/>
            <a:ext cx="1554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2331720"/>
            <a:ext cx="1234440" cy="685800"/>
          </a:xfrm>
          <a:prstGeom prst="roundRect">
            <a:avLst>
              <a:gd name="adj" fmla="val 9333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95728"/>
            <a:ext cx="11430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Trigger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31720" y="233172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395728"/>
            <a:ext cx="1325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AI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233172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395728"/>
            <a:ext cx="1325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Chat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50992" y="233172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E6FFF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96712" y="2395728"/>
            <a:ext cx="1325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Tools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96912" y="233172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0FDFA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2395728"/>
            <a:ext cx="1325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Memory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6840" y="233172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395728"/>
            <a:ext cx="1325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442448" y="2331720"/>
            <a:ext cx="1005840" cy="685800"/>
          </a:xfrm>
          <a:prstGeom prst="roundRect">
            <a:avLst>
              <a:gd name="adj" fmla="val 9333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88168" y="2395728"/>
            <a:ext cx="9144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Review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F6BFF"/>
                </a:solidFill>
              </a:rPr>
              <a:t>Trigger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49808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Chat message, form, webhook, email, schedule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304288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F6BFF"/>
                </a:solidFill>
              </a:rPr>
              <a:t>AI Agent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304288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Receives goal; decides next step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950208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2F6BFF"/>
                </a:solidFill>
              </a:rPr>
              <a:t>Chat Model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3950208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OpenAI, Anthropic, Mistral, Groq etc.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596128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</a:rPr>
              <a:t>Tools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596128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Gmail, Sheets, HTTP, DB, search, code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269480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</a:rPr>
              <a:t>Memory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269480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Conversation context and session data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979408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97316"/>
                </a:solidFill>
              </a:rPr>
              <a:t>Action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8979408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Send report, update sheet, create alert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10314432" y="32461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97316"/>
                </a:solidFill>
              </a:rPr>
              <a:t>Review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0314432" y="3520440"/>
            <a:ext cx="11430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Teacher, researcher, clinician approves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22960" y="48920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EF6FF"/>
          </a:solidFill>
          <a:ln w="12700">
            <a:solidFill>
              <a:srgbClr val="BCD3FF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24128" y="5074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BFF"/>
                </a:solidFill>
              </a:rPr>
              <a:t>Good agent design question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5376672"/>
            <a:ext cx="2926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“What should the AI decide, and what must remain under human control?”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26280" y="489204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1FFFA"/>
          </a:solidFill>
          <a:ln w="12700">
            <a:solidFill>
              <a:srgbClr val="BDEDDD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5074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Reliable agent rule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73168" y="5376672"/>
            <a:ext cx="2578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Use tools for facts, calculations, data retrieval, and repeatable actions.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818120" y="489204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4EA"/>
          </a:solidFill>
          <a:ln w="12700">
            <a:solidFill>
              <a:srgbClr val="FFD3B8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19872" y="5074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Safety rule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19872" y="5376672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For health and research: cite sources, protect data, and add expert review.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Build Your First Agent in n8n: Step-by-Step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Example target: a “Research Assistant Agent” that receives a topic and returns a structured research plan.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32520" y="301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 Health &amp; Academic Research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44752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9344"/>
            <a:ext cx="621792" cy="20116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27632" y="1581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Create a workflow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41832" y="1956816"/>
            <a:ext cx="261518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Open n8n → New Workflow → name it clearly, e.g., Research Assistant Agent.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251960" y="1444752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16552" y="1609344"/>
            <a:ext cx="621792" cy="20116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8072" y="1581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Add a trigger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462272" y="1956816"/>
            <a:ext cx="261518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Use Chat Trigger for live demo, Form Trigger for learners, or Schedule/Webhook for automation.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0" y="1444752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36992" y="1609344"/>
            <a:ext cx="621792" cy="2011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68512" y="1581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Add AI Agent node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982712" y="1956816"/>
            <a:ext cx="261518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Write the role: “You are a research support agent for CS faculty and PhD scholars.”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959352"/>
            <a:ext cx="621792" cy="2011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27632" y="3931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Attach chat model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941832" y="4306824"/>
            <a:ext cx="261518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Connect OpenAI / Anthropic / other supported model credentials. Keep temperature moderate.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251960" y="3794760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16552" y="3959352"/>
            <a:ext cx="621792" cy="2011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48072" y="3931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Attach tools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462272" y="4306824"/>
            <a:ext cx="261518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Add search, Google Sheets, database, HTTP Request, or document tools depending on the task.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0" y="3794760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36992" y="3959352"/>
            <a:ext cx="621792" cy="20116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68512" y="3931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Add output action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7982712" y="4306824"/>
            <a:ext cx="261518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Send email, update spreadsheet, create document, or return answer to chat.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77240" y="5687568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852160"/>
            <a:ext cx="10149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FFFFF"/>
                </a:solidFill>
              </a:rPr>
              <a:t>Starter prompt: “Given the topic, create research objectives, possible variables, suggested method, expected data source, ethical issues, and a faculty-review checklist.”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Configuring the Agent: Instructions, Tools, and Memory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quality of the agent depends less on the logo of the model and more on workflow discipline.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32520" y="301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 Health &amp; Academic Research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3456432" cy="4315968"/>
          </a:xfrm>
          <a:prstGeom prst="roundRect">
            <a:avLst>
              <a:gd name="adj" fmla="val 2116"/>
            </a:avLst>
          </a:prstGeom>
          <a:solidFill>
            <a:srgbClr val="EEF6FF"/>
          </a:solidFill>
          <a:ln w="12700">
            <a:solidFill>
              <a:srgbClr val="BCD3FF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A. Agent Instructions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993392"/>
            <a:ext cx="26974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Role: who the agent is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Task: what it must produce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Boundaries: what it must not do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Format: table, report, checklist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Escalation: when to ask human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416552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Example: “Do not give medical diagnosis. Provide risk explanation and recommend clinician review.”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298448"/>
            <a:ext cx="3456432" cy="4315968"/>
          </a:xfrm>
          <a:prstGeom prst="roundRect">
            <a:avLst>
              <a:gd name="adj" fmla="val 2116"/>
            </a:avLst>
          </a:prstGeom>
          <a:solidFill>
            <a:srgbClr val="F1FFFA"/>
          </a:solidFill>
          <a:ln w="12700">
            <a:solidFill>
              <a:srgbClr val="BDEDDD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B. 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1993392"/>
            <a:ext cx="26974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Google Sheets: store responses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HTTP Request: call health/research APIs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Database: fetch institutional data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Search tool: gather web context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Code node: clean or transform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4416552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Rule of thumb: use a tool whenever the answer needs current data, exact calculation, or system 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298448"/>
            <a:ext cx="3456432" cy="4315968"/>
          </a:xfrm>
          <a:prstGeom prst="roundRect">
            <a:avLst>
              <a:gd name="adj" fmla="val 2116"/>
            </a:avLst>
          </a:prstGeom>
          <a:solidFill>
            <a:srgbClr val="FFF4EA"/>
          </a:solidFill>
          <a:ln w="12700">
            <a:solidFill>
              <a:srgbClr val="FFD3B8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C. Memory + Guardrails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9328" y="1993392"/>
            <a:ext cx="26974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Use session ID for conversation continuity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Limit what memory stores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Protect personal / patient data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Add expert approval before action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Log outputs for audit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4416552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For classroom demo, use sample or synthetic data. Real data = consent, privacy, and ethics first.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5879592"/>
            <a:ext cx="98298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5989320"/>
            <a:ext cx="92811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Teaching point: an agent is a workflow with a brain, hands, memory, rules, and a supervisor. That last part saves everyone from chaos goblin mode.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Demo Blueprint: Research or Health Agent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this as a hands-on design activity: learners build the workflow logic before building the automation.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32520" y="301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 Health &amp; Academic Research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087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FF"/>
                </a:solidFill>
              </a:rPr>
              <a:t>Demo workflow: “Wellness Follow-up Agent”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29968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Patient form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2020824"/>
            <a:ext cx="3611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</a:rPr>
              <a:t>BP, sugar, sleep, activity, mood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1508760" y="2505456"/>
            <a:ext cx="0" cy="15544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" y="2679192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43200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AI Agent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2734056"/>
            <a:ext cx="3611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</a:rPr>
              <a:t>Classifies risk + explains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1508760" y="3218688"/>
            <a:ext cx="0" cy="15544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" y="3392424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E6FFF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56432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Tools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3447288"/>
            <a:ext cx="3611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</a:rPr>
              <a:t>Risk sheet + guideline notes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1508760" y="3931920"/>
            <a:ext cx="0" cy="15544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4105656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69664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Decision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4160520"/>
            <a:ext cx="3611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</a:rPr>
              <a:t>Low / moderate / high risk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1508760" y="4645152"/>
            <a:ext cx="0" cy="15544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" y="4818888"/>
            <a:ext cx="1097280" cy="411480"/>
          </a:xfrm>
          <a:prstGeom prst="roundRect">
            <a:avLst>
              <a:gd name="adj" fmla="val 15556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882896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</a:rPr>
              <a:t>Output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4873752"/>
            <a:ext cx="3611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</a:rPr>
              <a:t>Patient message + health-worker alert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32688" y="5532120"/>
            <a:ext cx="4663440" cy="347472"/>
          </a:xfrm>
          <a:prstGeom prst="roundRect">
            <a:avLst>
              <a:gd name="adj" fmla="val 21053"/>
            </a:avLst>
          </a:prstGeom>
          <a:solidFill>
            <a:srgbClr val="EEF6FF"/>
          </a:solidFill>
          <a:ln w="12700">
            <a:solidFill>
              <a:srgbClr val="BCD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641848"/>
            <a:ext cx="4160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BFF"/>
                </a:solidFill>
              </a:rPr>
              <a:t>Human-in-loop: clinician / researcher validates before real-world action.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82512" y="1234440"/>
            <a:ext cx="5166360" cy="489204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DCE7F3"/>
            </a:solidFill>
            <a:prstDash val="solid"/>
          </a:ln>
          <a:effectLst>
            <a:outerShdw blurRad="12700" dist="50800" dir="2700000" algn="bl" rotWithShape="0">
              <a:srgbClr val="D6DEE8">
                <a:alpha val="1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56832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Learner task: build an agent card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56832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</a:rPr>
              <a:t>Purpose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656832" y="222199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What goal will the agent achieve?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656832" y="2834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</a:rPr>
              <a:t>Users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6656832" y="309067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Who will use it? Faculty, scholar, patient, health worker?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656832" y="3703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</a:rPr>
              <a:t>Inputs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6656832" y="395935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What data enters the workflow?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9079992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97316"/>
                </a:solidFill>
              </a:rPr>
              <a:t>Tools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9079992" y="222199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Which apps, databases, APIs, or files will it use?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079992" y="2834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97316"/>
                </a:solidFill>
              </a:rPr>
              <a:t>Risks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9079992" y="309067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What can go wrong? Bias, privacy, hallucination, unsafe advice?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9079992" y="3703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97316"/>
                </a:solidFill>
              </a:rPr>
              <a:t>Review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9079992" y="395935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Who approves the final output?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675120" y="489204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5157216"/>
            <a:ext cx="3977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Assessment output: one workflow diagram + one agent instruction prompt + one safety checklist.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Agentic AI for Health and Academic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Case Study: Agentic AI for digital health and community wellness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a community digital-health assistant that turns field data into risk stratification, personalized feedback, follow-up reminders, and caregiver support.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50008" y="2176272"/>
            <a:ext cx="50292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BCD9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39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Field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90288" y="2176272"/>
            <a:ext cx="50292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17520" y="17830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DDF7F7"/>
          </a:solidFill>
          <a:ln w="12700">
            <a:solidFill>
              <a:srgbClr val="BCD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039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Risk 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30568" y="2176272"/>
            <a:ext cx="50292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7830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BCD9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039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Feedback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0848" y="2176272"/>
            <a:ext cx="502920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17830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DDF7F7"/>
          </a:solidFill>
          <a:ln w="12700">
            <a:solidFill>
              <a:srgbClr val="BCD9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039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Care plan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738360" y="1783080"/>
            <a:ext cx="1508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BCD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2039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Review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01752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154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Agent 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493008"/>
            <a:ext cx="33375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Intake Agent reads vitals, symptoms, PHQ-9/GAD-7, lifestyle inputs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Risk Agent computes wellness-risk category and flags missing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Feedback Agent drafts simple, culturally appropriate advice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Follow-up Agent schedules reminders and escalates red flags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3017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2D1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154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Human-in-the-loop safeguards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493008"/>
            <a:ext cx="31546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No independent diagnosis or prescription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Nurse/doctor approval for escalation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Consent-based data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Explainable risk reason: “why this feedback?”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Referral path for severe distress or emergency signs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83880" y="301752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EAF9F4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154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Class activity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3493008"/>
            <a:ext cx="2926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Give each group a sample patient profile. Ask them to design: agent goal, tools, input data, output format, safety checks, and evaluation metric. Bonus: add a caregiver-support micro-agent.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F00D0-5752-B78A-33F1-05779C6A9D65}"/>
              </a:ext>
            </a:extLst>
          </p:cNvPr>
          <p:cNvSpPr txBox="1"/>
          <p:nvPr/>
        </p:nvSpPr>
        <p:spPr>
          <a:xfrm>
            <a:off x="474453" y="612475"/>
            <a:ext cx="1122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Study: Inpatient Risk Alert Agent for Nurse Station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CE4CF-BB24-62A1-0955-17157932F82C}"/>
              </a:ext>
            </a:extLst>
          </p:cNvPr>
          <p:cNvSpPr txBox="1"/>
          <p:nvPr/>
        </p:nvSpPr>
        <p:spPr>
          <a:xfrm>
            <a:off x="474453" y="1199072"/>
            <a:ext cx="111280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Title</a:t>
            </a:r>
          </a:p>
          <a:p>
            <a:endParaRPr lang="en-US" b="1" dirty="0"/>
          </a:p>
          <a:p>
            <a:r>
              <a:rPr lang="en-US" b="1" dirty="0" err="1"/>
              <a:t>WardWatch</a:t>
            </a:r>
            <a:r>
              <a:rPr lang="en-US" b="1" dirty="0"/>
              <a:t> Agent: An Agentic AI System for Alerting Nurse Stations Using Hospital ERP Data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Problem Context</a:t>
            </a:r>
          </a:p>
          <a:p>
            <a:endParaRPr lang="en-US" b="1" dirty="0"/>
          </a:p>
          <a:p>
            <a:r>
              <a:rPr lang="en-US" dirty="0"/>
              <a:t>In hospitals, admitted patients generate a lot of data through the hospital ERP or Hospital Information System. This may include admission details, diagnosis, vitals, medication schedule, lab results, nursing notes, doctor orders, and patient complaints.</a:t>
            </a:r>
          </a:p>
          <a:p>
            <a:r>
              <a:rPr lang="en-US" dirty="0"/>
              <a:t>However, nurses may be handling many patients at the same time. A warning sign may be hidden inside routine entries such as abnormal vitals, missed medication, delayed lab results, sudden deterioration, or repeated patient complaints.</a:t>
            </a:r>
          </a:p>
          <a:p>
            <a:r>
              <a:rPr lang="en-US" dirty="0"/>
              <a:t>An </a:t>
            </a:r>
            <a:r>
              <a:rPr lang="en-US" b="1" dirty="0"/>
              <a:t>Agentic AI system</a:t>
            </a:r>
            <a:r>
              <a:rPr lang="en-US" dirty="0"/>
              <a:t> can continuously monitor admitted-patient data from the ERP and alert the nurse station when a patient needs attention.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59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FAD479-CCC1-24B8-E93F-DD71137E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study- Health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819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F00D0-5752-B78A-33F1-05779C6A9D65}"/>
              </a:ext>
            </a:extLst>
          </p:cNvPr>
          <p:cNvSpPr txBox="1"/>
          <p:nvPr/>
        </p:nvSpPr>
        <p:spPr>
          <a:xfrm>
            <a:off x="474453" y="612475"/>
            <a:ext cx="1122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Study: Inpatient Risk Alert Agent for Nurse Station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CE4CF-BB24-62A1-0955-17157932F82C}"/>
              </a:ext>
            </a:extLst>
          </p:cNvPr>
          <p:cNvSpPr txBox="1"/>
          <p:nvPr/>
        </p:nvSpPr>
        <p:spPr>
          <a:xfrm>
            <a:off x="474453" y="1199072"/>
            <a:ext cx="11128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Goal</a:t>
            </a:r>
          </a:p>
          <a:p>
            <a:r>
              <a:rPr lang="en-US" dirty="0"/>
              <a:t>The agent helps the nurse station by:</a:t>
            </a:r>
          </a:p>
          <a:p>
            <a:r>
              <a:rPr lang="en-US" b="1" dirty="0"/>
              <a:t>monitoring admitted-patient data, identifying risk patterns, prioritizing cases, and sending timely alerts for human review and action.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009AA5-E476-872C-63EB-C4E28A8EE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245198"/>
              </p:ext>
            </p:extLst>
          </p:nvPr>
        </p:nvGraphicFramePr>
        <p:xfrm>
          <a:off x="1544128" y="2996417"/>
          <a:ext cx="7877356" cy="327793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527541">
                  <a:extLst>
                    <a:ext uri="{9D8B030D-6E8A-4147-A177-3AD203B41FA5}">
                      <a16:colId xmlns:a16="http://schemas.microsoft.com/office/drawing/2014/main" val="2728573245"/>
                    </a:ext>
                  </a:extLst>
                </a:gridCol>
                <a:gridCol w="5349815">
                  <a:extLst>
                    <a:ext uri="{9D8B030D-6E8A-4147-A177-3AD203B41FA5}">
                      <a16:colId xmlns:a16="http://schemas.microsoft.com/office/drawing/2014/main" val="4292976405"/>
                    </a:ext>
                  </a:extLst>
                </a:gridCol>
              </a:tblGrid>
              <a:tr h="276026">
                <a:tc>
                  <a:txBody>
                    <a:bodyPr/>
                    <a:lstStyle/>
                    <a:p>
                      <a:r>
                        <a:rPr lang="en-IN" sz="1400" b="1" dirty="0"/>
                        <a:t>ERP Data Source </a:t>
                      </a:r>
                      <a:endParaRPr lang="en-IN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Example Data</a:t>
                      </a:r>
                      <a:endParaRPr lang="en-IN" sz="1400" b="1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905340"/>
                  </a:ext>
                </a:extLst>
              </a:tr>
              <a:tr h="276026">
                <a:tc>
                  <a:txBody>
                    <a:bodyPr/>
                    <a:lstStyle/>
                    <a:p>
                      <a:r>
                        <a:rPr lang="en-IN" sz="1400" b="1"/>
                        <a:t>Patient profile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Age, gender, ward, bed number, diagnosis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605033"/>
                  </a:ext>
                </a:extLst>
              </a:tr>
              <a:tr h="276026">
                <a:tc>
                  <a:txBody>
                    <a:bodyPr/>
                    <a:lstStyle/>
                    <a:p>
                      <a:r>
                        <a:rPr lang="en-IN" sz="1400" b="1"/>
                        <a:t>Vital signs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Temperature, BP, pulse, SpO₂, respiratory rate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48233"/>
                  </a:ext>
                </a:extLst>
              </a:tr>
              <a:tr h="483046">
                <a:tc>
                  <a:txBody>
                    <a:bodyPr/>
                    <a:lstStyle/>
                    <a:p>
                      <a:r>
                        <a:rPr lang="en-IN" sz="1400" b="1"/>
                        <a:t>Medication records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Scheduled medicines, missed doses, delayed administration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589833"/>
                  </a:ext>
                </a:extLst>
              </a:tr>
              <a:tr h="483046">
                <a:tc>
                  <a:txBody>
                    <a:bodyPr/>
                    <a:lstStyle/>
                    <a:p>
                      <a:r>
                        <a:rPr lang="en-IN" sz="1400" b="1"/>
                        <a:t>Lab results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Blood sugar, Hb, WBC count, creatinine, electrolytes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513169"/>
                  </a:ext>
                </a:extLst>
              </a:tr>
              <a:tr h="483046">
                <a:tc>
                  <a:txBody>
                    <a:bodyPr/>
                    <a:lstStyle/>
                    <a:p>
                      <a:r>
                        <a:rPr lang="en-IN" sz="1400" b="1"/>
                        <a:t>Doctor orders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New orders, pending investigations, escalation notes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577370"/>
                  </a:ext>
                </a:extLst>
              </a:tr>
              <a:tr h="276026">
                <a:tc>
                  <a:txBody>
                    <a:bodyPr/>
                    <a:lstStyle/>
                    <a:p>
                      <a:r>
                        <a:rPr lang="en-IN" sz="1400" b="1"/>
                        <a:t>Nursing notes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Pain, dizziness, vomiting, confusion, fall risk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281661"/>
                  </a:ext>
                </a:extLst>
              </a:tr>
              <a:tr h="276026">
                <a:tc>
                  <a:txBody>
                    <a:bodyPr/>
                    <a:lstStyle/>
                    <a:p>
                      <a:r>
                        <a:rPr lang="en-IN" sz="1400" b="1"/>
                        <a:t>Admission details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Post-surgery, ICU step-down, high-risk category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638760"/>
                  </a:ext>
                </a:extLst>
              </a:tr>
              <a:tr h="276026">
                <a:tc>
                  <a:txBody>
                    <a:bodyPr/>
                    <a:lstStyle/>
                    <a:p>
                      <a:r>
                        <a:rPr lang="en-IN" sz="1400" b="1"/>
                        <a:t>Device data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Monitor readings, oxygen support, infusion status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27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726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F00D0-5752-B78A-33F1-05779C6A9D65}"/>
              </a:ext>
            </a:extLst>
          </p:cNvPr>
          <p:cNvSpPr txBox="1"/>
          <p:nvPr/>
        </p:nvSpPr>
        <p:spPr>
          <a:xfrm>
            <a:off x="474453" y="612475"/>
            <a:ext cx="1122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Study: Inpatient Risk Alert Agent for Nurse Station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813933-DE0B-A0C3-B8D7-DF6C23573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6676383"/>
              </p:ext>
            </p:extLst>
          </p:nvPr>
        </p:nvGraphicFramePr>
        <p:xfrm>
          <a:off x="2929148" y="1120157"/>
          <a:ext cx="7724475" cy="4939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730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48E83A-8DEC-0664-C809-A80F8FBA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Study- Academic Research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443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Agentic AI for Health and Academic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Case Study: Agentic AI for academic research workflows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a research co-pilot that supports literature mapping, research design, data-analysis planning, writing, publication targeting, and grant workflows.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24328" y="2304288"/>
            <a:ext cx="347472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18888" y="2304288"/>
            <a:ext cx="347472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13448" y="2304288"/>
            <a:ext cx="347472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208008" y="2304288"/>
            <a:ext cx="347472" cy="0"/>
          </a:xfrm>
          <a:prstGeom prst="line">
            <a:avLst/>
          </a:prstGeom>
          <a:noFill/>
          <a:ln w="12700">
            <a:solidFill>
              <a:srgbClr val="8FBF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1828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DDF7F7"/>
          </a:solidFill>
          <a:ln w="12700">
            <a:solidFill>
              <a:srgbClr val="C9D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02996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1F3A"/>
                </a:solidFill>
              </a:rPr>
              <a:t>Literature Scout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C2833"/>
                </a:solidFill>
              </a:rPr>
              <a:t>Search + screen papers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154680" y="1828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EAF9F4"/>
          </a:solidFill>
          <a:ln w="12700">
            <a:solidFill>
              <a:srgbClr val="C9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02996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1F3A"/>
                </a:solidFill>
              </a:rPr>
              <a:t>Method Mentor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3264408" y="230428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C2833"/>
                </a:solidFill>
              </a:rPr>
              <a:t>Refine aim, design, variables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349240" y="1828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DDF7F7"/>
          </a:solidFill>
          <a:ln w="12700">
            <a:solidFill>
              <a:srgbClr val="C9D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202996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1F3A"/>
                </a:solidFill>
              </a:rPr>
              <a:t>Analysis Planner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458968" y="230428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C2833"/>
                </a:solidFill>
              </a:rPr>
              <a:t>Suggest tests + reproducibility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543800" y="1828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EAF9F4"/>
          </a:solidFill>
          <a:ln w="12700">
            <a:solidFill>
              <a:srgbClr val="C9D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202996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1F3A"/>
                </a:solidFill>
              </a:rPr>
              <a:t>Writing Coach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653528" y="230428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C2833"/>
                </a:solidFill>
              </a:rPr>
              <a:t>Draft sections + check logic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9738360" y="1828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DDF7F7"/>
          </a:solidFill>
          <a:ln w="12700">
            <a:solidFill>
              <a:srgbClr val="C9D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202996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1F3A"/>
                </a:solidFill>
              </a:rPr>
              <a:t>Publication Agent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848088" y="230428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C2833"/>
                </a:solidFill>
              </a:rPr>
              <a:t>Journal fit + ethics checklist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22960" y="3246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Example workflow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721608"/>
            <a:ext cx="32918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Topic: “adaptive interventions in programming education.”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The agent builds a concept map, identifies measurement variables, proposes a study design, drafts a data-analysis plan, checks reporting guidelines, and produces a transparent research log.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3063240" cy="2011680"/>
          </a:xfrm>
          <a:prstGeom prst="roundRect">
            <a:avLst>
              <a:gd name="adj" fmla="val 5455"/>
            </a:avLst>
          </a:prstGeom>
          <a:solidFill>
            <a:srgbClr val="FFF8E6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83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Good research conduct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721608"/>
            <a:ext cx="26974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Cite every factual claim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Keep raw data private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Make analysis scripts reproducible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Use AI for support, not ghost authorship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Maintain researcher judgement throughout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09560" y="32461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EEAFE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383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Mini demo prompt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92440" y="3721608"/>
            <a:ext cx="30175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“Act as a research-design agent. Given my topic, generate a PICO/PEO-style research question, 5 search strings, inclusion criteria, variables, and a one-page analysis plan. Ask for missing details only after giving a draft.”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AFBFE4-A7AC-2CAC-18C0-6FB54B91F2F9}"/>
              </a:ext>
            </a:extLst>
          </p:cNvPr>
          <p:cNvSpPr txBox="1"/>
          <p:nvPr/>
        </p:nvSpPr>
        <p:spPr>
          <a:xfrm>
            <a:off x="621102" y="862641"/>
            <a:ext cx="1015329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Case title: Research </a:t>
            </a:r>
            <a:r>
              <a:rPr lang="en-IN" sz="2400" b="1" dirty="0"/>
              <a:t>Radar Agent Using n8n</a:t>
            </a:r>
            <a:endParaRPr lang="en-US" sz="2400" b="1" dirty="0"/>
          </a:p>
          <a:p>
            <a:endParaRPr lang="en-US" b="1" dirty="0"/>
          </a:p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Researchers may miss newly published articles because manual searching across Google Scholar and databases is irregular and time-consuming.</a:t>
            </a:r>
          </a:p>
          <a:p>
            <a:endParaRPr lang="en-US" dirty="0"/>
          </a:p>
          <a:p>
            <a:r>
              <a:rPr lang="en-US" b="1" dirty="0"/>
              <a:t>Agent Goal:</a:t>
            </a:r>
            <a:br>
              <a:rPr lang="en-US" dirty="0"/>
            </a:br>
            <a:r>
              <a:rPr lang="en-US" dirty="0"/>
              <a:t>Automatically detect new articles in a defined research area, filter them using keywords and AI-based relevance scoring, and send a monthly digest.</a:t>
            </a:r>
          </a:p>
          <a:p>
            <a:endParaRPr lang="en-US" dirty="0"/>
          </a:p>
          <a:p>
            <a:r>
              <a:rPr lang="en-US" b="1" dirty="0"/>
              <a:t>Inputs:</a:t>
            </a:r>
            <a:br>
              <a:rPr lang="en-US" dirty="0"/>
            </a:br>
            <a:r>
              <a:rPr lang="en-US" dirty="0"/>
              <a:t>Research keywords, Google Scholar Alerts, article titles, abstracts, DOI links, publication date, journal name, and previously stored articles.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799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F4F835-83C8-2E5B-ACB0-C4FB367E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695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Agentic AI for Health and Academic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Assessment: design one agentic AI case study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1051560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833"/>
                </a:solidFill>
              </a:rPr>
              <a:t>Group task: choose one case, design the agent workflow, and present a 5-minute “minimum viable agent” blueprint.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0175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26517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Problem statement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User/stakeholder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Agent goal and boundaries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Input data + tools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Workflow diagram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Guardrails and human review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Evaluation metric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1874520"/>
            <a:ext cx="2834640" cy="2834640"/>
          </a:xfrm>
          <a:prstGeom prst="roundRect">
            <a:avLst>
              <a:gd name="adj" fmla="val 3871"/>
            </a:avLst>
          </a:prstGeom>
          <a:solidFill>
            <a:srgbClr val="FFF2D1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Scoring rubric: 20 marks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350008"/>
            <a:ext cx="246888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Problem clarity –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Agent design –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Tool/data fit – 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Ethics &amp; safety – 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Feasibility + presentation –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1874520"/>
            <a:ext cx="3657600" cy="2834640"/>
          </a:xfrm>
          <a:prstGeom prst="roundRect">
            <a:avLst>
              <a:gd name="adj" fmla="val 3871"/>
            </a:avLst>
          </a:prstGeom>
          <a:solidFill>
            <a:srgbClr val="EAF9F4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011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Presentation format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350008"/>
            <a:ext cx="329184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Slide 1: Problem + users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Slide 2: Agent workflow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Slide 3: Tools, guardrails, evaluation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Demo optional: prompt, pseudo-code, or flowchart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5349240"/>
            <a:ext cx="6263640" cy="512064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5522976"/>
            <a:ext cx="5897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Rule of thumb: AI may assist, but the group must defend every design choice. No autopilot academics, please.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Agentic AI for Health and Academic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Assessment Case Studies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EAF9F4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Case 1: Community Diabetes Follow-up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470916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Context: A health team collects BP, glucose, BMI, diet, activity, medication adherence, and distress indicators from adults in a panchayat.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Task: Design an agent that identifies follow-up priority, drafts personalized feedback, and alerts the health worker when clinical review is needed.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Must include: red-flag rules, consent, data-minimization, and one evaluation metric.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2D1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544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Case 2: Mental Health &amp; Caregiver Support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892808"/>
            <a:ext cx="470916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Context: A digital health app includes PHQ-9/GAD-7 screening and caregiver input for chronic illness patients.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Task: Design a support agent that provides empathetic psychoeducation, caregiver tips, and referral prompts without diagnosing or replacing professionals.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Must include: crisis-escalation path, tone guide, privacy boundary, and human approval step.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A6"/>
                </a:solidFill>
              </a:rPr>
              <a:t>Agentic AI for Health and Academic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Assessment Case Studies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DDF7F7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Case 3: Literature Review &amp; Knowledge Map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470916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Context: A PhD scholar wants to review research on adaptive learning interventions in programming education.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Task: Design an agent that searches literature, screens papers, extracts constructs, builds a concept map, and prepares a review matrix.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Must include: citation verification, inclusion/exclusion criteria, bias check, and audit trail.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EEEAFE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544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Case 4: Manuscript &amp; Grant Workflow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892808"/>
            <a:ext cx="470916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Context: A faculty team has completed data analysis and needs a manuscript, target journal shortlist, response-to-reviewer draft, and grant concept note.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Task: Design an agentic workflow that coordinates writing, formatting, journal matching, compliance checks, and version control.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Must include: authorship ethics, plagiarism prevention, source tracking, and PI approval.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3119</Words>
  <Application>Microsoft Office PowerPoint</Application>
  <PresentationFormat>Widescreen</PresentationFormat>
  <Paragraphs>407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Agents- Concepts</vt:lpstr>
      <vt:lpstr>PowerPoint Presentation</vt:lpstr>
      <vt:lpstr>PowerPoint Presentation</vt:lpstr>
      <vt:lpstr>PowerPoint Presentation</vt:lpstr>
      <vt:lpstr>Tools for 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study- Health</vt:lpstr>
      <vt:lpstr>PowerPoint Presentation</vt:lpstr>
      <vt:lpstr>PowerPoint Presentation</vt:lpstr>
      <vt:lpstr>Case Study- Academic Research</vt:lpstr>
      <vt:lpstr>PowerPoint Presentation</vt:lpstr>
      <vt:lpstr>PowerPoint Presentation</vt:lpstr>
      <vt:lpstr>Assessments</vt:lpstr>
      <vt:lpstr>PowerPoint Presentation</vt:lpstr>
      <vt:lpstr>PowerPoint Presentation</vt:lpstr>
      <vt:lpstr>PowerPoint Presentation</vt:lpstr>
    </vt:vector>
  </TitlesOfParts>
  <Company>Rajagiri College of Social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Study Materials</dc:title>
  <dc:subject>Agentic AI for Health and Academic Research</dc:subject>
  <dc:creator>OpenAI</dc:creator>
  <cp:lastModifiedBy>Bindiya Abhilash</cp:lastModifiedBy>
  <cp:revision>9</cp:revision>
  <dcterms:created xsi:type="dcterms:W3CDTF">2026-07-06T09:32:21Z</dcterms:created>
  <dcterms:modified xsi:type="dcterms:W3CDTF">2026-07-08T06:49:19Z</dcterms:modified>
</cp:coreProperties>
</file>